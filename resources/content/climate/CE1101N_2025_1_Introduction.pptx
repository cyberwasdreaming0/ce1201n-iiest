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8" r:id="rId3"/>
    <p:sldId id="259" r:id="rId4"/>
    <p:sldId id="260" r:id="rId5"/>
    <p:sldId id="261" r:id="rId6"/>
    <p:sldId id="262" r:id="rId7"/>
    <p:sldId id="263" r:id="rId8"/>
    <p:sldId id="356" r:id="rId9"/>
    <p:sldId id="357" r:id="rId10"/>
    <p:sldId id="358" r:id="rId11"/>
    <p:sldId id="265" r:id="rId12"/>
    <p:sldId id="359" r:id="rId13"/>
    <p:sldId id="269" r:id="rId14"/>
    <p:sldId id="272" r:id="rId15"/>
    <p:sldId id="273" r:id="rId16"/>
    <p:sldId id="274" r:id="rId17"/>
    <p:sldId id="275" r:id="rId18"/>
    <p:sldId id="276" r:id="rId19"/>
    <p:sldId id="277" r:id="rId20"/>
    <p:sldId id="278" r:id="rId21"/>
    <p:sldId id="279" r:id="rId22"/>
    <p:sldId id="280"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60" r:id="rId42"/>
    <p:sldId id="36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8A93C-B928-47BA-B674-18DB622BB8EC}" type="datetimeFigureOut">
              <a:rPr lang="en-IN" smtClean="0"/>
              <a:t>08-09-2025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6D5D67-9ACD-4D0F-BEB5-884EF8B306B9}" type="slidenum">
              <a:rPr lang="en-IN" smtClean="0"/>
              <a:t>‹#›</a:t>
            </a:fld>
            <a:endParaRPr lang="en-IN"/>
          </a:p>
        </p:txBody>
      </p:sp>
    </p:spTree>
    <p:extLst>
      <p:ext uri="{BB962C8B-B14F-4D97-AF65-F5344CB8AC3E}">
        <p14:creationId xmlns:p14="http://schemas.microsoft.com/office/powerpoint/2010/main" val="3357934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29BADDB-D2C3-4DDE-8383-9FE4D487913D}"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7</a:t>
            </a:fld>
            <a:endParaRPr sz="1200">
              <a:solidFill>
                <a:schemeClr val="dk1"/>
              </a:solidFill>
              <a:latin typeface="Times New Roman"/>
              <a:ea typeface="Times New Roman"/>
              <a:cs typeface="Times New Roman"/>
              <a:sym typeface="Times New Roman"/>
            </a:endParaRPr>
          </a:p>
        </p:txBody>
      </p:sp>
      <p:sp>
        <p:nvSpPr>
          <p:cNvPr id="126" name="Google Shape;126;p6:notes"/>
          <p:cNvSpPr>
            <a:spLocks noGrp="1" noRot="1" noChangeAspect="1"/>
          </p:cNvSpPr>
          <p:nvPr>
            <p:ph type="sldImg" idx="2"/>
          </p:nvPr>
        </p:nvSpPr>
        <p:spPr>
          <a:xfrm>
            <a:off x="373063" y="687388"/>
            <a:ext cx="6111875" cy="34385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27" name="Google Shape;127;p6:notes"/>
          <p:cNvSpPr txBox="1">
            <a:spLocks noGrp="1"/>
          </p:cNvSpPr>
          <p:nvPr>
            <p:ph type="body" idx="1"/>
          </p:nvPr>
        </p:nvSpPr>
        <p:spPr>
          <a:xfrm>
            <a:off x="914400" y="4356100"/>
            <a:ext cx="5029200" cy="41259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7004236C-6616-40D4-8F05-DEBF01DAF1AA}" type="slidenum">
              <a:rPr lang="en-US"/>
              <a:pPr/>
              <a:t>10</a:t>
            </a:fld>
            <a:endParaRPr lang="en-US"/>
          </a:p>
        </p:txBody>
      </p:sp>
      <p:sp>
        <p:nvSpPr>
          <p:cNvPr id="91139" name="Text Box 2"/>
          <p:cNvSpPr txBox="1">
            <a:spLocks noChangeArrowheads="1"/>
          </p:cNvSpPr>
          <p:nvPr/>
        </p:nvSpPr>
        <p:spPr bwMode="auto">
          <a:xfrm>
            <a:off x="1143000" y="685800"/>
            <a:ext cx="4572000" cy="3430588"/>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91140" name="Rectangle 3"/>
          <p:cNvSpPr txBox="1">
            <a:spLocks noGrp="1" noChangeArrowheads="1"/>
          </p:cNvSpPr>
          <p:nvPr>
            <p:ph type="body"/>
          </p:nvPr>
        </p:nvSpPr>
        <p:spPr>
          <a:xfrm>
            <a:off x="685800" y="4341813"/>
            <a:ext cx="5486400" cy="4114800"/>
          </a:xfrm>
          <a:noFill/>
          <a:ln/>
        </p:spPr>
        <p:txBody>
          <a:bodyPr wrap="none" lIns="82058" tIns="41029" rIns="82058" bIns="41029" anchor="ct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15</a:t>
            </a:fld>
            <a:endParaRPr sz="1200">
              <a:solidFill>
                <a:schemeClr val="dk1"/>
              </a:solidFill>
              <a:latin typeface="Times New Roman"/>
              <a:ea typeface="Times New Roman"/>
              <a:cs typeface="Times New Roman"/>
              <a:sym typeface="Times New Roman"/>
            </a:endParaRPr>
          </a:p>
        </p:txBody>
      </p:sp>
      <p:sp>
        <p:nvSpPr>
          <p:cNvPr id="226" name="Google Shape;22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7" name="Google Shape;227;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16</a:t>
            </a:fld>
            <a:endParaRPr sz="1200">
              <a:solidFill>
                <a:schemeClr val="dk1"/>
              </a:solidFill>
              <a:latin typeface="Times New Roman"/>
              <a:ea typeface="Times New Roman"/>
              <a:cs typeface="Times New Roman"/>
              <a:sym typeface="Times New Roman"/>
            </a:endParaRPr>
          </a:p>
        </p:txBody>
      </p:sp>
      <p:sp>
        <p:nvSpPr>
          <p:cNvPr id="234" name="Google Shape;23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5" name="Google Shape;23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17</a:t>
            </a:fld>
            <a:endParaRPr sz="1200">
              <a:solidFill>
                <a:schemeClr val="dk1"/>
              </a:solidFill>
              <a:latin typeface="Times New Roman"/>
              <a:ea typeface="Times New Roman"/>
              <a:cs typeface="Times New Roman"/>
              <a:sym typeface="Times New Roman"/>
            </a:endParaRPr>
          </a:p>
        </p:txBody>
      </p:sp>
      <p:sp>
        <p:nvSpPr>
          <p:cNvPr id="241" name="Google Shape;24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2" name="Google Shape;242;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23</a:t>
            </a:fld>
            <a:endParaRPr sz="1200">
              <a:solidFill>
                <a:schemeClr val="dk1"/>
              </a:solidFill>
              <a:latin typeface="Times New Roman"/>
              <a:ea typeface="Times New Roman"/>
              <a:cs typeface="Times New Roman"/>
              <a:sym typeface="Times New Roman"/>
            </a:endParaRPr>
          </a:p>
        </p:txBody>
      </p:sp>
      <p:sp>
        <p:nvSpPr>
          <p:cNvPr id="286" name="Google Shape;28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7" name="Google Shape;287;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24</a:t>
            </a:fld>
            <a:endParaRPr sz="1200">
              <a:solidFill>
                <a:schemeClr val="dk1"/>
              </a:solidFill>
              <a:latin typeface="Times New Roman"/>
              <a:ea typeface="Times New Roman"/>
              <a:cs typeface="Times New Roman"/>
              <a:sym typeface="Times New Roman"/>
            </a:endParaRPr>
          </a:p>
        </p:txBody>
      </p:sp>
      <p:sp>
        <p:nvSpPr>
          <p:cNvPr id="293" name="Google Shape;293;p29:notes"/>
          <p:cNvSpPr>
            <a:spLocks noGrp="1" noRot="1" noChangeAspect="1"/>
          </p:cNvSpPr>
          <p:nvPr>
            <p:ph type="sldImg" idx="2"/>
          </p:nvPr>
        </p:nvSpPr>
        <p:spPr>
          <a:xfrm>
            <a:off x="0" y="303213"/>
            <a:ext cx="1588" cy="15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94" name="Google Shape;294;p29:notes"/>
          <p:cNvSpPr txBox="1">
            <a:spLocks noGrp="1"/>
          </p:cNvSpPr>
          <p:nvPr>
            <p:ph type="body" idx="1"/>
          </p:nvPr>
        </p:nvSpPr>
        <p:spPr>
          <a:xfrm>
            <a:off x="503238" y="4316413"/>
            <a:ext cx="5856287" cy="40608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25</a:t>
            </a:fld>
            <a:endParaRPr sz="1200">
              <a:solidFill>
                <a:schemeClr val="dk1"/>
              </a:solidFill>
              <a:latin typeface="Times New Roman"/>
              <a:ea typeface="Times New Roman"/>
              <a:cs typeface="Times New Roman"/>
              <a:sym typeface="Times New Roman"/>
            </a:endParaRPr>
          </a:p>
        </p:txBody>
      </p:sp>
      <p:sp>
        <p:nvSpPr>
          <p:cNvPr id="303" name="Google Shape;30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04" name="Google Shape;304;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2984167B-B13B-4BEA-A62D-34A8050C4FAC}" type="slidenum">
              <a:rPr lang="en-US">
                <a:solidFill>
                  <a:prstClr val="black"/>
                </a:solidFill>
              </a:rPr>
              <a:pPr/>
              <a:t>41</a:t>
            </a:fld>
            <a:endParaRPr lang="en-US">
              <a:solidFill>
                <a:prstClr val="black"/>
              </a:solidFill>
            </a:endParaRPr>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t>Animation by Sandra Penny</a:t>
            </a:r>
          </a:p>
        </p:txBody>
      </p:sp>
    </p:spTree>
    <p:extLst>
      <p:ext uri="{BB962C8B-B14F-4D97-AF65-F5344CB8AC3E}">
        <p14:creationId xmlns:p14="http://schemas.microsoft.com/office/powerpoint/2010/main" val="14823498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8E538BAF-CE34-4259-A24E-3E063856D1C1}" type="slidenum">
              <a:rPr lang="en-US">
                <a:solidFill>
                  <a:prstClr val="black"/>
                </a:solidFill>
              </a:rPr>
              <a:pPr/>
              <a:t>42</a:t>
            </a:fld>
            <a:endParaRPr lang="en-US">
              <a:solidFill>
                <a:prstClr val="black"/>
              </a:solidFill>
            </a:endParaRPr>
          </a:p>
        </p:txBody>
      </p:sp>
      <p:sp>
        <p:nvSpPr>
          <p:cNvPr id="64515" name="Rectangle 2"/>
          <p:cNvSpPr>
            <a:spLocks noGrp="1" noRot="1" noChangeAspect="1" noChangeArrowheads="1" noTextEdit="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471704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39F49-9233-59F8-16E6-3A3BA7CAE4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AF4DF9-EC01-6580-764F-ED48624BC7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F498DD-0685-33E8-9F58-4CEBFD17CDED}"/>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5" name="Footer Placeholder 4">
            <a:extLst>
              <a:ext uri="{FF2B5EF4-FFF2-40B4-BE49-F238E27FC236}">
                <a16:creationId xmlns:a16="http://schemas.microsoft.com/office/drawing/2014/main" id="{3DF6EA80-2AD4-0E9B-E842-86EFAAB289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266B09-624D-DFCE-DD88-DE14FCB45301}"/>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459780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17A0-04F8-1ED3-25A1-ACFE546993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EA6AD7-9900-BC03-C090-3477E64B8C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5809AC-2E2B-A31B-9C9E-19924D45ED85}"/>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5" name="Footer Placeholder 4">
            <a:extLst>
              <a:ext uri="{FF2B5EF4-FFF2-40B4-BE49-F238E27FC236}">
                <a16:creationId xmlns:a16="http://schemas.microsoft.com/office/drawing/2014/main" id="{8E434207-6489-9D02-BCA4-C2EDBA82BC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78F379-9721-B8FB-D76F-B1DD5447A753}"/>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3558662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56FB7-6F3E-E981-35F3-B0855B175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672369-D855-AB71-A7A9-B7007D2C7D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78A183-D7CE-6AEC-BC7D-9651B2351FED}"/>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5" name="Footer Placeholder 4">
            <a:extLst>
              <a:ext uri="{FF2B5EF4-FFF2-40B4-BE49-F238E27FC236}">
                <a16:creationId xmlns:a16="http://schemas.microsoft.com/office/drawing/2014/main" id="{7253C5AA-1B9E-AF2F-4EFC-45F9B0F942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21000F-9FB9-BDC6-A6F7-FC7DAB3DBD6B}"/>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603665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414B2-695B-A220-1982-BD5E6B2BD7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B86545-AE2E-1890-78E8-3ADEA1E9DF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2A3E08-DED6-EB60-C144-73135700E6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CA2507-2CD0-2828-4618-2DCA1A9C4BE4}"/>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6" name="Footer Placeholder 5">
            <a:extLst>
              <a:ext uri="{FF2B5EF4-FFF2-40B4-BE49-F238E27FC236}">
                <a16:creationId xmlns:a16="http://schemas.microsoft.com/office/drawing/2014/main" id="{BF0BDBD5-9246-DDAD-F267-5B158C99DB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4A2D61-2A71-E12F-0AF9-87CD8C0755CC}"/>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966666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E1A33-198F-B272-650E-FC942F4551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A583ED-9302-6D35-81FD-ED4A5C596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5FE45A-E79D-C2C1-62F1-A8E4D24325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C78448-C244-7E25-5B79-893E8D689D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42055C-6098-102F-A849-B3079079F1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C1A899-192F-BA21-6301-5F1493336835}"/>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8" name="Footer Placeholder 7">
            <a:extLst>
              <a:ext uri="{FF2B5EF4-FFF2-40B4-BE49-F238E27FC236}">
                <a16:creationId xmlns:a16="http://schemas.microsoft.com/office/drawing/2014/main" id="{A45C7F34-745F-27D0-882B-E82FD44134C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3C0A4D-5EE3-6166-1296-31111F62CFCB}"/>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3510144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3D35-C1C0-1636-CD88-46A4DCBC7E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E97227-E0AE-E1D3-44C7-C530EF08C8E2}"/>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4" name="Footer Placeholder 3">
            <a:extLst>
              <a:ext uri="{FF2B5EF4-FFF2-40B4-BE49-F238E27FC236}">
                <a16:creationId xmlns:a16="http://schemas.microsoft.com/office/drawing/2014/main" id="{91490725-FB86-8F04-8FE8-4C8E2DA364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1CE87B-B9BF-99C2-16CE-20BF6E7542DD}"/>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4068429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D008EF-7173-4A39-933B-6CBA0AD7B4D6}"/>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3" name="Footer Placeholder 2">
            <a:extLst>
              <a:ext uri="{FF2B5EF4-FFF2-40B4-BE49-F238E27FC236}">
                <a16:creationId xmlns:a16="http://schemas.microsoft.com/office/drawing/2014/main" id="{FF60E47E-D829-6138-AD71-F1BEFBD8731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27685C-38C6-08CA-9BB2-F4BBB2847355}"/>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4199986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F694B-2622-1756-A4A3-A25C37FDA0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324B20-FDB5-029D-DC7A-FA4255D2CA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1ACCBB-A38F-41A9-44DC-72BE3515FC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60F50F-376F-C33E-4002-43AD22D06F27}"/>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6" name="Footer Placeholder 5">
            <a:extLst>
              <a:ext uri="{FF2B5EF4-FFF2-40B4-BE49-F238E27FC236}">
                <a16:creationId xmlns:a16="http://schemas.microsoft.com/office/drawing/2014/main" id="{DCAE9665-05C9-0292-A309-43D82A13A5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B21F78-5C5F-3CFE-0C3F-2CD1F8D6FE75}"/>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2341656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03695-CC40-4980-E145-5BB2578325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073E65-F954-63C5-77CB-CC39808937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3E2244-A000-3D1E-FC6D-4C5E5ED01A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F13F99-1A86-0126-2ABC-EBD8BCDB480A}"/>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6" name="Footer Placeholder 5">
            <a:extLst>
              <a:ext uri="{FF2B5EF4-FFF2-40B4-BE49-F238E27FC236}">
                <a16:creationId xmlns:a16="http://schemas.microsoft.com/office/drawing/2014/main" id="{A7E0B8DB-8840-E51A-BF0B-ABBC0CE3C0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2995EC-3789-3BB0-4DD5-6A574AD46794}"/>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4122528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E6C78-E2D2-CF7E-05F9-D1B3FC1465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6C153F-7A78-CA94-D19E-70DA9110A5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32148C-F121-8E14-5341-9AAE3E8D2EA7}"/>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5" name="Footer Placeholder 4">
            <a:extLst>
              <a:ext uri="{FF2B5EF4-FFF2-40B4-BE49-F238E27FC236}">
                <a16:creationId xmlns:a16="http://schemas.microsoft.com/office/drawing/2014/main" id="{C48C507B-9B8B-1004-7E30-74552393B7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31E60A-3BE3-39E6-0C9D-5421B33B7821}"/>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2817455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ECE077-1FD8-F288-DAB6-72C59E9FDD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A1CE9F-3A6B-625B-B583-500B168370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DD64C5-FD1C-F56B-44DE-96CBBB52DA5F}"/>
              </a:ext>
            </a:extLst>
          </p:cNvPr>
          <p:cNvSpPr>
            <a:spLocks noGrp="1"/>
          </p:cNvSpPr>
          <p:nvPr>
            <p:ph type="dt" sz="half" idx="10"/>
          </p:nvPr>
        </p:nvSpPr>
        <p:spPr/>
        <p:txBody>
          <a:bodyPr/>
          <a:lstStyle/>
          <a:p>
            <a:fld id="{6B46AFB1-769A-4012-88E9-954C45C57D9B}" type="datetimeFigureOut">
              <a:rPr lang="en-IN" smtClean="0"/>
              <a:t>08-09-2025</a:t>
            </a:fld>
            <a:endParaRPr lang="en-IN"/>
          </a:p>
        </p:txBody>
      </p:sp>
      <p:sp>
        <p:nvSpPr>
          <p:cNvPr id="5" name="Footer Placeholder 4">
            <a:extLst>
              <a:ext uri="{FF2B5EF4-FFF2-40B4-BE49-F238E27FC236}">
                <a16:creationId xmlns:a16="http://schemas.microsoft.com/office/drawing/2014/main" id="{31D0B1EC-4C20-8709-5C6D-C74C4B678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C8F454-44DE-0400-2B98-BC768FE98E17}"/>
              </a:ext>
            </a:extLst>
          </p:cNvPr>
          <p:cNvSpPr>
            <a:spLocks noGrp="1"/>
          </p:cNvSpPr>
          <p:nvPr>
            <p:ph type="sldNum" sz="quarter" idx="12"/>
          </p:nvPr>
        </p:nvSpPr>
        <p:spPr/>
        <p:txBody>
          <a:bodyPr/>
          <a:lstStyle/>
          <a:p>
            <a:fld id="{9B6F634A-92EB-42BD-924A-465684F5951C}" type="slidenum">
              <a:rPr lang="en-IN" smtClean="0"/>
              <a:t>‹#›</a:t>
            </a:fld>
            <a:endParaRPr lang="en-IN"/>
          </a:p>
        </p:txBody>
      </p:sp>
    </p:spTree>
    <p:extLst>
      <p:ext uri="{BB962C8B-B14F-4D97-AF65-F5344CB8AC3E}">
        <p14:creationId xmlns:p14="http://schemas.microsoft.com/office/powerpoint/2010/main" val="478425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37592-C557-B7BB-5D05-C0CF798F45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62D168-A57D-E6D0-9721-52E936456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BC74AB-F906-92FC-EB3C-F9CFDDBA88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46AFB1-769A-4012-88E9-954C45C57D9B}" type="datetimeFigureOut">
              <a:rPr lang="en-IN" smtClean="0"/>
              <a:t>08-09-2025</a:t>
            </a:fld>
            <a:endParaRPr lang="en-IN"/>
          </a:p>
        </p:txBody>
      </p:sp>
      <p:sp>
        <p:nvSpPr>
          <p:cNvPr id="5" name="Footer Placeholder 4">
            <a:extLst>
              <a:ext uri="{FF2B5EF4-FFF2-40B4-BE49-F238E27FC236}">
                <a16:creationId xmlns:a16="http://schemas.microsoft.com/office/drawing/2014/main" id="{17886030-8BDB-8DC0-5531-B2A703E7C2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ABAE61-77ED-1F46-D130-EA4BA4BEFA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F634A-92EB-42BD-924A-465684F5951C}" type="slidenum">
              <a:rPr lang="en-IN" smtClean="0"/>
              <a:t>‹#›</a:t>
            </a:fld>
            <a:endParaRPr lang="en-IN"/>
          </a:p>
        </p:txBody>
      </p:sp>
    </p:spTree>
    <p:extLst>
      <p:ext uri="{BB962C8B-B14F-4D97-AF65-F5344CB8AC3E}">
        <p14:creationId xmlns:p14="http://schemas.microsoft.com/office/powerpoint/2010/main" val="2452438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 Id="rId9" Type="http://schemas.openxmlformats.org/officeDocument/2006/relationships/image" Target="../media/image26.jpeg"/></Relationships>
</file>

<file path=ppt/slides/_rels/slide42.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30.jpeg"/><Relationship Id="rId3" Type="http://schemas.openxmlformats.org/officeDocument/2006/relationships/image" Target="../media/image20.jpeg"/><Relationship Id="rId7" Type="http://schemas.openxmlformats.org/officeDocument/2006/relationships/image" Target="../media/image23.jpeg"/><Relationship Id="rId12" Type="http://schemas.openxmlformats.org/officeDocument/2006/relationships/image" Target="../media/image29.jpe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22.jpeg"/><Relationship Id="rId11" Type="http://schemas.openxmlformats.org/officeDocument/2006/relationships/image" Target="../media/image28.jpeg"/><Relationship Id="rId5" Type="http://schemas.openxmlformats.org/officeDocument/2006/relationships/image" Target="../media/image27.jpeg"/><Relationship Id="rId10" Type="http://schemas.openxmlformats.org/officeDocument/2006/relationships/image" Target="../media/image26.jpeg"/><Relationship Id="rId4" Type="http://schemas.openxmlformats.org/officeDocument/2006/relationships/image" Target="../media/image21.jpeg"/><Relationship Id="rId9"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2107" y="538424"/>
            <a:ext cx="10030119" cy="2387600"/>
          </a:xfrm>
        </p:spPr>
        <p:txBody>
          <a:bodyPr>
            <a:normAutofit/>
          </a:bodyPr>
          <a:lstStyle/>
          <a:p>
            <a:r>
              <a:rPr lang="en-US" dirty="0">
                <a:solidFill>
                  <a:srgbClr val="00B050"/>
                </a:solidFill>
              </a:rPr>
              <a:t>Introduction to Climate Change</a:t>
            </a:r>
          </a:p>
        </p:txBody>
      </p:sp>
      <p:sp>
        <p:nvSpPr>
          <p:cNvPr id="4" name="Subtitle 3">
            <a:extLst>
              <a:ext uri="{FF2B5EF4-FFF2-40B4-BE49-F238E27FC236}">
                <a16:creationId xmlns:a16="http://schemas.microsoft.com/office/drawing/2014/main" id="{9928E49B-0166-9155-834D-A241A04E95D8}"/>
              </a:ext>
            </a:extLst>
          </p:cNvPr>
          <p:cNvSpPr>
            <a:spLocks noGrp="1"/>
          </p:cNvSpPr>
          <p:nvPr>
            <p:ph type="subTitle" idx="1"/>
          </p:nvPr>
        </p:nvSpPr>
        <p:spPr/>
        <p:txBody>
          <a:bodyPr/>
          <a:lstStyle/>
          <a:p>
            <a:r>
              <a:rPr lang="en-IN" dirty="0"/>
              <a:t>CE1101N</a:t>
            </a:r>
          </a:p>
        </p:txBody>
      </p:sp>
      <p:sp>
        <p:nvSpPr>
          <p:cNvPr id="6" name="Footer Placeholder 5"/>
          <p:cNvSpPr>
            <a:spLocks noGrp="1"/>
          </p:cNvSpPr>
          <p:nvPr>
            <p:ph type="ftr" sz="quarter" idx="11"/>
          </p:nvPr>
        </p:nvSpPr>
        <p:spPr/>
        <p:txBody>
          <a:bodyPr/>
          <a:lstStyle/>
          <a:p>
            <a:r>
              <a:rPr lang="en-US" dirty="0"/>
              <a:t>CE 5161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p:nvPr/>
        </p:nvSpPr>
        <p:spPr>
          <a:xfrm>
            <a:off x="970961" y="1075660"/>
            <a:ext cx="9964132" cy="2057400"/>
          </a:xfrm>
          <a:prstGeom prst="rect">
            <a:avLst/>
          </a:prstGeom>
          <a:noFill/>
          <a:ln>
            <a:noFill/>
          </a:ln>
        </p:spPr>
        <p:txBody>
          <a:bodyPr spcFirstLastPara="1" wrap="square" lIns="91425" tIns="45700" rIns="91425" bIns="45700" anchor="t" anchorCtr="0">
            <a:noAutofit/>
          </a:bodyPr>
          <a:lstStyle/>
          <a:p>
            <a:pPr marL="342900" indent="-341313" algn="just"/>
            <a:r>
              <a:rPr lang="en-US" sz="3200" dirty="0">
                <a:solidFill>
                  <a:schemeClr val="dk1"/>
                </a:solidFill>
                <a:latin typeface="Times New Roman"/>
                <a:ea typeface="Times New Roman"/>
                <a:cs typeface="Times New Roman"/>
                <a:sym typeface="Times New Roman"/>
              </a:rPr>
              <a:t>   Weather is the state of the atmosphere at a </a:t>
            </a:r>
            <a:r>
              <a:rPr lang="en-US" sz="3200" u="sng" dirty="0">
                <a:solidFill>
                  <a:schemeClr val="dk1"/>
                </a:solidFill>
                <a:latin typeface="Times New Roman"/>
                <a:ea typeface="Times New Roman"/>
                <a:cs typeface="Times New Roman"/>
                <a:sym typeface="Times New Roman"/>
              </a:rPr>
              <a:t>given place and time</a:t>
            </a:r>
            <a:r>
              <a:rPr lang="en-US" sz="3200" dirty="0">
                <a:solidFill>
                  <a:schemeClr val="dk1"/>
                </a:solidFill>
                <a:latin typeface="Times New Roman"/>
                <a:ea typeface="Times New Roman"/>
                <a:cs typeface="Times New Roman"/>
                <a:sym typeface="Times New Roman"/>
              </a:rPr>
              <a:t>.  For example, </a:t>
            </a:r>
            <a:r>
              <a:rPr lang="en-US" sz="3200" u="sng" dirty="0">
                <a:solidFill>
                  <a:schemeClr val="dk1"/>
                </a:solidFill>
                <a:latin typeface="Times New Roman"/>
                <a:ea typeface="Times New Roman"/>
                <a:cs typeface="Times New Roman"/>
                <a:sym typeface="Times New Roman"/>
              </a:rPr>
              <a:t>right now</a:t>
            </a:r>
            <a:r>
              <a:rPr lang="en-US" sz="3200" dirty="0">
                <a:solidFill>
                  <a:schemeClr val="dk1"/>
                </a:solidFill>
                <a:latin typeface="Times New Roman"/>
                <a:ea typeface="Times New Roman"/>
                <a:cs typeface="Times New Roman"/>
                <a:sym typeface="Times New Roman"/>
              </a:rPr>
              <a:t>, the temperature in </a:t>
            </a:r>
            <a:r>
              <a:rPr lang="en-US" sz="3200" u="sng" dirty="0">
                <a:solidFill>
                  <a:schemeClr val="dk1"/>
                </a:solidFill>
                <a:latin typeface="Times New Roman"/>
                <a:ea typeface="Times New Roman"/>
                <a:cs typeface="Times New Roman"/>
                <a:sym typeface="Times New Roman"/>
              </a:rPr>
              <a:t>IIEST is 31 degree centigrade</a:t>
            </a:r>
            <a:r>
              <a:rPr lang="en-US" sz="3200" dirty="0">
                <a:solidFill>
                  <a:schemeClr val="dk1"/>
                </a:solidFill>
                <a:latin typeface="Times New Roman"/>
                <a:ea typeface="Times New Roman"/>
                <a:cs typeface="Times New Roman"/>
                <a:sym typeface="Times New Roman"/>
              </a:rPr>
              <a:t> with Partly Sunny skies.</a:t>
            </a:r>
            <a:endParaRPr dirty="0"/>
          </a:p>
          <a:p>
            <a:pPr marL="342900" indent="-341313">
              <a:spcBef>
                <a:spcPts val="800"/>
              </a:spcBef>
            </a:pPr>
            <a:endParaRPr sz="3200" dirty="0">
              <a:solidFill>
                <a:schemeClr val="dk1"/>
              </a:solidFill>
              <a:latin typeface="Times New Roman"/>
              <a:ea typeface="Times New Roman"/>
              <a:cs typeface="Times New Roman"/>
              <a:sym typeface="Times New Roman"/>
            </a:endParaRPr>
          </a:p>
        </p:txBody>
      </p:sp>
      <p:sp>
        <p:nvSpPr>
          <p:cNvPr id="103" name="Google Shape;103;p15"/>
          <p:cNvSpPr txBox="1"/>
          <p:nvPr/>
        </p:nvSpPr>
        <p:spPr>
          <a:xfrm>
            <a:off x="1291471" y="3208849"/>
            <a:ext cx="9483365" cy="1569620"/>
          </a:xfrm>
          <a:prstGeom prst="rect">
            <a:avLst/>
          </a:prstGeom>
          <a:noFill/>
          <a:ln>
            <a:noFill/>
          </a:ln>
        </p:spPr>
        <p:txBody>
          <a:bodyPr spcFirstLastPara="1" wrap="square" lIns="91425" tIns="45700" rIns="91425" bIns="45700" anchor="t" anchorCtr="0">
            <a:spAutoFit/>
          </a:bodyPr>
          <a:lstStyle/>
          <a:p>
            <a:r>
              <a:rPr lang="en-US" sz="3200" dirty="0">
                <a:solidFill>
                  <a:schemeClr val="dk1"/>
                </a:solidFill>
                <a:latin typeface="Times New Roman"/>
                <a:ea typeface="Times New Roman"/>
                <a:cs typeface="Times New Roman"/>
                <a:sym typeface="Times New Roman"/>
              </a:rPr>
              <a:t>The term “weather” refers to the temporary  conditions of the atmosphere, the layer of air that surrounds the Earth.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body" idx="1"/>
          </p:nvPr>
        </p:nvSpPr>
        <p:spPr>
          <a:xfrm>
            <a:off x="622169" y="518475"/>
            <a:ext cx="10812544" cy="5607690"/>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rgbClr val="000000"/>
              </a:buClr>
              <a:buSzPct val="100000"/>
              <a:buNone/>
            </a:pPr>
            <a:r>
              <a:rPr lang="en-US" sz="3600" b="0" i="0" dirty="0">
                <a:solidFill>
                  <a:srgbClr val="000000"/>
                </a:solidFill>
                <a:latin typeface="+mn-lt"/>
                <a:ea typeface="Geo"/>
                <a:cs typeface="Geo"/>
                <a:sym typeface="Geo"/>
              </a:rPr>
              <a:t>We usually think of weather in terms of the state of the atmosphere in our own part of the world. </a:t>
            </a:r>
            <a:endParaRPr sz="3600" dirty="0">
              <a:latin typeface="+mn-lt"/>
            </a:endParaRPr>
          </a:p>
          <a:p>
            <a:pPr marL="0" indent="0">
              <a:spcBef>
                <a:spcPts val="592"/>
              </a:spcBef>
              <a:buClr>
                <a:schemeClr val="dk1"/>
              </a:buClr>
              <a:buSzPct val="100000"/>
              <a:buNone/>
            </a:pPr>
            <a:endParaRPr sz="3600" b="0" i="0" dirty="0">
              <a:solidFill>
                <a:srgbClr val="000000"/>
              </a:solidFill>
              <a:latin typeface="+mn-lt"/>
              <a:ea typeface="Geo"/>
              <a:cs typeface="Geo"/>
              <a:sym typeface="Geo"/>
            </a:endParaRPr>
          </a:p>
          <a:p>
            <a:pPr marL="0" indent="0">
              <a:spcBef>
                <a:spcPts val="592"/>
              </a:spcBef>
              <a:buClr>
                <a:srgbClr val="000000"/>
              </a:buClr>
              <a:buSzPct val="100000"/>
              <a:buNone/>
            </a:pPr>
            <a:r>
              <a:rPr lang="en-US" sz="3600" b="0" i="0" dirty="0">
                <a:solidFill>
                  <a:srgbClr val="000000"/>
                </a:solidFill>
                <a:latin typeface="+mn-lt"/>
                <a:ea typeface="Geo"/>
                <a:cs typeface="Geo"/>
                <a:sym typeface="Geo"/>
              </a:rPr>
              <a:t>But weather works like dropping a pebble in water—the ripples eventually affect water far away from where the pebble was dropped.</a:t>
            </a:r>
            <a:endParaRPr sz="3600" dirty="0">
              <a:latin typeface="+mn-lt"/>
            </a:endParaRPr>
          </a:p>
          <a:p>
            <a:pPr marL="0" indent="0">
              <a:spcBef>
                <a:spcPts val="592"/>
              </a:spcBef>
              <a:buClr>
                <a:srgbClr val="000000"/>
              </a:buClr>
              <a:buSzPct val="100000"/>
              <a:buNone/>
            </a:pPr>
            <a:r>
              <a:rPr lang="en-US" sz="3600" b="0" i="0" dirty="0">
                <a:solidFill>
                  <a:srgbClr val="000000"/>
                </a:solidFill>
                <a:latin typeface="+mn-lt"/>
                <a:ea typeface="Geo"/>
                <a:cs typeface="Geo"/>
                <a:sym typeface="Geo"/>
              </a:rPr>
              <a:t> </a:t>
            </a:r>
            <a:endParaRPr sz="3600" dirty="0">
              <a:latin typeface="+mn-lt"/>
            </a:endParaRPr>
          </a:p>
          <a:p>
            <a:pPr marL="0" indent="0">
              <a:spcBef>
                <a:spcPts val="592"/>
              </a:spcBef>
              <a:buClr>
                <a:srgbClr val="000000"/>
              </a:buClr>
              <a:buSzPct val="100000"/>
              <a:buNone/>
            </a:pPr>
            <a:r>
              <a:rPr lang="en-US" sz="3600" b="0" i="0" dirty="0">
                <a:solidFill>
                  <a:srgbClr val="000000"/>
                </a:solidFill>
                <a:latin typeface="+mn-lt"/>
                <a:ea typeface="Geo"/>
                <a:cs typeface="Geo"/>
                <a:sym typeface="Geo"/>
              </a:rPr>
              <a:t>The same happens with weather around the globe. Weather in your region will eventually affect the weather hundreds or thousands of kilometers away.</a:t>
            </a:r>
            <a:endParaRPr sz="3600" dirty="0">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body" idx="1"/>
          </p:nvPr>
        </p:nvSpPr>
        <p:spPr>
          <a:xfrm>
            <a:off x="718008" y="1284246"/>
            <a:ext cx="10755984" cy="53641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rgbClr val="000000"/>
              </a:buClr>
              <a:buSzPts val="3200"/>
              <a:buNone/>
            </a:pPr>
            <a:r>
              <a:rPr lang="en-US" sz="3200" b="0" i="0" dirty="0">
                <a:solidFill>
                  <a:srgbClr val="000000"/>
                </a:solidFill>
                <a:latin typeface="+mn-lt"/>
                <a:ea typeface="Geo"/>
                <a:cs typeface="Geo"/>
                <a:sym typeface="Geo"/>
              </a:rPr>
              <a:t>There are six main components, or parts, of weather. </a:t>
            </a:r>
          </a:p>
          <a:p>
            <a:pPr marL="0" indent="0">
              <a:spcBef>
                <a:spcPts val="0"/>
              </a:spcBef>
              <a:buClr>
                <a:srgbClr val="000000"/>
              </a:buClr>
              <a:buSzPts val="3200"/>
              <a:buNone/>
            </a:pPr>
            <a:endParaRPr sz="3200" dirty="0">
              <a:latin typeface="+mn-lt"/>
            </a:endParaRPr>
          </a:p>
          <a:p>
            <a:pPr marL="0" indent="0">
              <a:spcBef>
                <a:spcPts val="640"/>
              </a:spcBef>
              <a:buClr>
                <a:srgbClr val="000000"/>
              </a:buClr>
              <a:buSzPts val="3200"/>
              <a:buNone/>
            </a:pPr>
            <a:r>
              <a:rPr lang="en-US" sz="3200" b="0" i="0" dirty="0">
                <a:solidFill>
                  <a:srgbClr val="000000"/>
                </a:solidFill>
                <a:latin typeface="+mn-lt"/>
                <a:ea typeface="Geo"/>
                <a:cs typeface="Geo"/>
                <a:sym typeface="Geo"/>
              </a:rPr>
              <a:t>They are </a:t>
            </a:r>
            <a:r>
              <a:rPr lang="en-US" sz="3200" b="0" i="0" u="none" strike="noStrike" dirty="0">
                <a:solidFill>
                  <a:srgbClr val="000000"/>
                </a:solidFill>
                <a:latin typeface="+mn-lt"/>
                <a:ea typeface="Geo"/>
                <a:cs typeface="Geo"/>
                <a:sym typeface="Geo"/>
              </a:rPr>
              <a:t>temperature</a:t>
            </a:r>
            <a:r>
              <a:rPr lang="en-US" sz="3200" b="0" i="0" dirty="0">
                <a:solidFill>
                  <a:srgbClr val="000000"/>
                </a:solidFill>
                <a:latin typeface="+mn-lt"/>
                <a:ea typeface="Geo"/>
                <a:cs typeface="Geo"/>
                <a:sym typeface="Geo"/>
              </a:rPr>
              <a:t>, </a:t>
            </a:r>
            <a:r>
              <a:rPr lang="en-US" sz="3200" b="0" i="0" u="none" strike="noStrike" dirty="0">
                <a:solidFill>
                  <a:srgbClr val="000000"/>
                </a:solidFill>
                <a:latin typeface="+mn-lt"/>
                <a:ea typeface="Geo"/>
                <a:cs typeface="Geo"/>
                <a:sym typeface="Geo"/>
              </a:rPr>
              <a:t>atmospheric pressure</a:t>
            </a:r>
            <a:r>
              <a:rPr lang="en-US" sz="3200" b="0" i="0" dirty="0">
                <a:solidFill>
                  <a:srgbClr val="000000"/>
                </a:solidFill>
                <a:latin typeface="+mn-lt"/>
                <a:ea typeface="Geo"/>
                <a:cs typeface="Geo"/>
                <a:sym typeface="Geo"/>
              </a:rPr>
              <a:t>, </a:t>
            </a:r>
            <a:r>
              <a:rPr lang="en-US" sz="3200" b="0" i="0" u="none" strike="noStrike" dirty="0">
                <a:solidFill>
                  <a:srgbClr val="000000"/>
                </a:solidFill>
                <a:latin typeface="+mn-lt"/>
                <a:ea typeface="Geo"/>
                <a:cs typeface="Geo"/>
                <a:sym typeface="Geo"/>
              </a:rPr>
              <a:t>wind</a:t>
            </a:r>
            <a:r>
              <a:rPr lang="en-US" sz="3200" b="0" i="0" dirty="0">
                <a:solidFill>
                  <a:srgbClr val="000000"/>
                </a:solidFill>
                <a:latin typeface="+mn-lt"/>
                <a:ea typeface="Geo"/>
                <a:cs typeface="Geo"/>
                <a:sym typeface="Geo"/>
              </a:rPr>
              <a:t>, </a:t>
            </a:r>
            <a:r>
              <a:rPr lang="en-US" sz="3200" b="0" i="0" u="none" strike="noStrike" dirty="0">
                <a:solidFill>
                  <a:srgbClr val="000000"/>
                </a:solidFill>
                <a:latin typeface="+mn-lt"/>
                <a:ea typeface="Geo"/>
                <a:cs typeface="Geo"/>
                <a:sym typeface="Geo"/>
              </a:rPr>
              <a:t>humidity</a:t>
            </a:r>
            <a:r>
              <a:rPr lang="en-US" sz="3200" b="0" i="0" dirty="0">
                <a:solidFill>
                  <a:srgbClr val="000000"/>
                </a:solidFill>
                <a:latin typeface="+mn-lt"/>
                <a:ea typeface="Geo"/>
                <a:cs typeface="Geo"/>
                <a:sym typeface="Geo"/>
              </a:rPr>
              <a:t>, </a:t>
            </a:r>
          </a:p>
          <a:p>
            <a:pPr marL="0" indent="0">
              <a:spcBef>
                <a:spcPts val="640"/>
              </a:spcBef>
              <a:buClr>
                <a:srgbClr val="000000"/>
              </a:buClr>
              <a:buSzPts val="3200"/>
              <a:buNone/>
            </a:pPr>
            <a:r>
              <a:rPr lang="en-US" sz="3200" b="0" i="0" u="none" strike="noStrike" dirty="0">
                <a:solidFill>
                  <a:srgbClr val="000000"/>
                </a:solidFill>
                <a:latin typeface="+mn-lt"/>
                <a:ea typeface="Geo"/>
                <a:cs typeface="Geo"/>
                <a:sym typeface="Geo"/>
              </a:rPr>
              <a:t>precipitation</a:t>
            </a:r>
            <a:r>
              <a:rPr lang="en-US" sz="3200" b="0" i="0" dirty="0">
                <a:solidFill>
                  <a:srgbClr val="000000"/>
                </a:solidFill>
                <a:latin typeface="+mn-lt"/>
                <a:ea typeface="Geo"/>
                <a:cs typeface="Geo"/>
                <a:sym typeface="Geo"/>
              </a:rPr>
              <a:t>, and cloudiness. </a:t>
            </a:r>
          </a:p>
          <a:p>
            <a:pPr marL="0" indent="0">
              <a:spcBef>
                <a:spcPts val="640"/>
              </a:spcBef>
              <a:buClr>
                <a:srgbClr val="000000"/>
              </a:buClr>
              <a:buSzPts val="3200"/>
              <a:buNone/>
            </a:pPr>
            <a:endParaRPr sz="3200" dirty="0">
              <a:latin typeface="+mn-lt"/>
            </a:endParaRPr>
          </a:p>
          <a:p>
            <a:pPr marL="0" indent="0">
              <a:spcBef>
                <a:spcPts val="640"/>
              </a:spcBef>
              <a:buClr>
                <a:srgbClr val="000000"/>
              </a:buClr>
              <a:buSzPts val="3200"/>
              <a:buNone/>
            </a:pPr>
            <a:r>
              <a:rPr lang="en-US" sz="3200" b="0" i="0" dirty="0">
                <a:solidFill>
                  <a:srgbClr val="000000"/>
                </a:solidFill>
                <a:latin typeface="+mn-lt"/>
                <a:ea typeface="Geo"/>
                <a:cs typeface="Geo"/>
                <a:sym typeface="Geo"/>
              </a:rPr>
              <a:t>Together, these components describe the weather at any given time. </a:t>
            </a:r>
            <a:endParaRPr sz="3200" dirty="0">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body" idx="1"/>
          </p:nvPr>
        </p:nvSpPr>
        <p:spPr>
          <a:xfrm>
            <a:off x="904974" y="1156355"/>
            <a:ext cx="10048972" cy="55165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rgbClr val="000000"/>
              </a:buClr>
              <a:buSzPts val="3200"/>
              <a:buNone/>
            </a:pPr>
            <a:r>
              <a:rPr lang="en-US" sz="3200" b="0" i="0" dirty="0">
                <a:solidFill>
                  <a:srgbClr val="000000"/>
                </a:solidFill>
                <a:latin typeface="+mn-lt"/>
                <a:ea typeface="Geo"/>
                <a:cs typeface="Geo"/>
                <a:sym typeface="Geo"/>
              </a:rPr>
              <a:t>Weather doesn’t just stay in one place. It moves, and changes from hour to hour or day to day.</a:t>
            </a:r>
            <a:endParaRPr sz="3200" dirty="0">
              <a:latin typeface="+mn-lt"/>
            </a:endParaRPr>
          </a:p>
          <a:p>
            <a:pPr marL="0" indent="0">
              <a:spcBef>
                <a:spcPts val="640"/>
              </a:spcBef>
              <a:buClr>
                <a:schemeClr val="dk1"/>
              </a:buClr>
              <a:buSzPts val="3200"/>
              <a:buNone/>
            </a:pPr>
            <a:endParaRPr sz="3200" b="0" i="0" dirty="0">
              <a:solidFill>
                <a:srgbClr val="000000"/>
              </a:solidFill>
              <a:latin typeface="+mn-lt"/>
              <a:ea typeface="Geo"/>
              <a:cs typeface="Geo"/>
              <a:sym typeface="Geo"/>
            </a:endParaRPr>
          </a:p>
          <a:p>
            <a:pPr marL="0" indent="0">
              <a:spcBef>
                <a:spcPts val="640"/>
              </a:spcBef>
              <a:buClr>
                <a:srgbClr val="000000"/>
              </a:buClr>
              <a:buSzPts val="3200"/>
              <a:buNone/>
            </a:pPr>
            <a:r>
              <a:rPr lang="en-US" sz="3200" b="0" i="0" dirty="0">
                <a:solidFill>
                  <a:srgbClr val="000000"/>
                </a:solidFill>
                <a:latin typeface="+mn-lt"/>
                <a:ea typeface="Geo"/>
                <a:cs typeface="Geo"/>
                <a:sym typeface="Geo"/>
              </a:rPr>
              <a:t>Over many years, certain conditions become familiar weather in an area. </a:t>
            </a:r>
            <a:endParaRPr sz="3200" dirty="0">
              <a:latin typeface="+mn-lt"/>
            </a:endParaRPr>
          </a:p>
          <a:p>
            <a:pPr marL="0" indent="0">
              <a:spcBef>
                <a:spcPts val="640"/>
              </a:spcBef>
              <a:buClr>
                <a:schemeClr val="dk1"/>
              </a:buClr>
              <a:buSzPts val="3200"/>
              <a:buNone/>
            </a:pPr>
            <a:endParaRPr sz="3200" b="0" i="0" dirty="0">
              <a:solidFill>
                <a:srgbClr val="000000"/>
              </a:solidFill>
              <a:latin typeface="+mn-lt"/>
              <a:ea typeface="Geo"/>
              <a:cs typeface="Geo"/>
              <a:sym typeface="Geo"/>
            </a:endParaRPr>
          </a:p>
          <a:p>
            <a:pPr marL="0" indent="0">
              <a:spcBef>
                <a:spcPts val="640"/>
              </a:spcBef>
              <a:buClr>
                <a:srgbClr val="000000"/>
              </a:buClr>
              <a:buSzPts val="3200"/>
              <a:buNone/>
            </a:pPr>
            <a:r>
              <a:rPr lang="en-US" sz="3200" b="0" i="0" dirty="0">
                <a:solidFill>
                  <a:srgbClr val="000000"/>
                </a:solidFill>
                <a:latin typeface="+mn-lt"/>
                <a:ea typeface="Geo"/>
                <a:cs typeface="Geo"/>
                <a:sym typeface="Geo"/>
              </a:rPr>
              <a:t>The average weather in a specific region, as well as its variations and extremes over many years, is called </a:t>
            </a:r>
            <a:r>
              <a:rPr lang="en-US" sz="3200" b="0" i="0" u="none" strike="noStrike" dirty="0">
                <a:solidFill>
                  <a:srgbClr val="000000"/>
                </a:solidFill>
                <a:latin typeface="+mn-lt"/>
                <a:ea typeface="Geo"/>
                <a:cs typeface="Geo"/>
                <a:sym typeface="Geo"/>
              </a:rPr>
              <a:t>climate</a:t>
            </a:r>
            <a:r>
              <a:rPr lang="en-US" sz="3200" b="0" i="0" dirty="0">
                <a:solidFill>
                  <a:srgbClr val="000000"/>
                </a:solidFill>
                <a:latin typeface="+mn-lt"/>
                <a:ea typeface="Geo"/>
                <a:cs typeface="Geo"/>
                <a:sym typeface="Geo"/>
              </a:rPr>
              <a:t>.</a:t>
            </a:r>
            <a:endParaRPr sz="3200" dirty="0">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p:nvPr/>
        </p:nvSpPr>
        <p:spPr>
          <a:xfrm>
            <a:off x="669303" y="762000"/>
            <a:ext cx="10529740" cy="5105400"/>
          </a:xfrm>
          <a:prstGeom prst="rect">
            <a:avLst/>
          </a:prstGeom>
          <a:noFill/>
          <a:ln>
            <a:noFill/>
          </a:ln>
        </p:spPr>
        <p:txBody>
          <a:bodyPr spcFirstLastPara="1" wrap="square" lIns="91425" tIns="45700" rIns="91425" bIns="45700" anchor="t" anchorCtr="0">
            <a:noAutofit/>
          </a:bodyPr>
          <a:lstStyle/>
          <a:p>
            <a:pPr marL="342900" indent="-341313"/>
            <a:r>
              <a:rPr lang="en-US" sz="3200" dirty="0">
                <a:solidFill>
                  <a:srgbClr val="000000"/>
                </a:solidFill>
                <a:latin typeface="Times New Roman"/>
                <a:ea typeface="Times New Roman"/>
                <a:cs typeface="Times New Roman"/>
                <a:sym typeface="Times New Roman"/>
              </a:rPr>
              <a:t>   Climate is the </a:t>
            </a:r>
            <a:r>
              <a:rPr lang="en-US" sz="3200" u="sng" dirty="0">
                <a:solidFill>
                  <a:srgbClr val="000000"/>
                </a:solidFill>
                <a:latin typeface="Times New Roman"/>
                <a:ea typeface="Times New Roman"/>
                <a:cs typeface="Times New Roman"/>
                <a:sym typeface="Times New Roman"/>
              </a:rPr>
              <a:t>average</a:t>
            </a:r>
            <a:r>
              <a:rPr lang="en-US" sz="3200" dirty="0">
                <a:solidFill>
                  <a:srgbClr val="000000"/>
                </a:solidFill>
                <a:latin typeface="Times New Roman"/>
                <a:ea typeface="Times New Roman"/>
                <a:cs typeface="Times New Roman"/>
                <a:sym typeface="Times New Roman"/>
              </a:rPr>
              <a:t> condition of the atmosphere (such as temperature or precipitation) over a </a:t>
            </a:r>
            <a:r>
              <a:rPr lang="en-US" sz="3200" u="sng" dirty="0">
                <a:solidFill>
                  <a:srgbClr val="000000"/>
                </a:solidFill>
                <a:latin typeface="Times New Roman"/>
                <a:ea typeface="Times New Roman"/>
                <a:cs typeface="Times New Roman"/>
                <a:sym typeface="Times New Roman"/>
              </a:rPr>
              <a:t>long period</a:t>
            </a:r>
            <a:r>
              <a:rPr lang="en-US" sz="3200" dirty="0">
                <a:solidFill>
                  <a:srgbClr val="000000"/>
                </a:solidFill>
                <a:latin typeface="Times New Roman"/>
                <a:ea typeface="Times New Roman"/>
                <a:cs typeface="Times New Roman"/>
                <a:sym typeface="Times New Roman"/>
              </a:rPr>
              <a:t> of time.  </a:t>
            </a:r>
          </a:p>
          <a:p>
            <a:pPr marL="342900" indent="-341313"/>
            <a:endParaRPr sz="3200" dirty="0"/>
          </a:p>
          <a:p>
            <a:pPr marL="342900" indent="-341313">
              <a:spcBef>
                <a:spcPts val="2000"/>
              </a:spcBef>
            </a:pPr>
            <a:r>
              <a:rPr lang="en-US" sz="3200" dirty="0">
                <a:solidFill>
                  <a:srgbClr val="000000"/>
                </a:solidFill>
                <a:latin typeface="Times New Roman"/>
                <a:ea typeface="Times New Roman"/>
                <a:cs typeface="Times New Roman"/>
                <a:sym typeface="Times New Roman"/>
              </a:rPr>
              <a:t>   For example, the </a:t>
            </a:r>
            <a:r>
              <a:rPr lang="en-US" sz="3200" u="sng" dirty="0">
                <a:solidFill>
                  <a:srgbClr val="000000"/>
                </a:solidFill>
                <a:latin typeface="Times New Roman"/>
                <a:ea typeface="Times New Roman"/>
                <a:cs typeface="Times New Roman"/>
                <a:sym typeface="Times New Roman"/>
              </a:rPr>
              <a:t>average </a:t>
            </a:r>
            <a:r>
              <a:rPr lang="en-US" sz="3200" dirty="0">
                <a:solidFill>
                  <a:srgbClr val="000000"/>
                </a:solidFill>
                <a:latin typeface="Times New Roman"/>
                <a:ea typeface="Times New Roman"/>
                <a:cs typeface="Times New Roman"/>
                <a:sym typeface="Times New Roman"/>
              </a:rPr>
              <a:t> annual temperature </a:t>
            </a:r>
            <a:r>
              <a:rPr lang="en-US" sz="3200" u="sng" dirty="0">
                <a:solidFill>
                  <a:srgbClr val="000000"/>
                </a:solidFill>
                <a:latin typeface="Times New Roman"/>
                <a:ea typeface="Times New Roman"/>
                <a:cs typeface="Times New Roman"/>
                <a:sym typeface="Times New Roman"/>
              </a:rPr>
              <a:t>over the past 30 years</a:t>
            </a:r>
            <a:r>
              <a:rPr lang="en-US" sz="3200" dirty="0">
                <a:solidFill>
                  <a:srgbClr val="000000"/>
                </a:solidFill>
                <a:latin typeface="Times New Roman"/>
                <a:ea typeface="Times New Roman"/>
                <a:cs typeface="Times New Roman"/>
                <a:sym typeface="Times New Roman"/>
              </a:rPr>
              <a:t> for Kolkata is 27.1°C.  The average annual precipitation is 1836.5 cm.</a:t>
            </a:r>
          </a:p>
          <a:p>
            <a:pPr marL="342900" indent="-341313">
              <a:spcBef>
                <a:spcPts val="2000"/>
              </a:spcBef>
            </a:pPr>
            <a:endParaRPr sz="3200" dirty="0"/>
          </a:p>
          <a:p>
            <a:pPr marL="342900" indent="-341313">
              <a:spcBef>
                <a:spcPts val="2000"/>
              </a:spcBef>
            </a:pPr>
            <a:r>
              <a:rPr lang="en-US" sz="3200" dirty="0">
                <a:solidFill>
                  <a:srgbClr val="000000"/>
                </a:solidFill>
                <a:latin typeface="Times New Roman"/>
                <a:ea typeface="Times New Roman"/>
                <a:cs typeface="Times New Roman"/>
                <a:sym typeface="Times New Roman"/>
              </a:rPr>
              <a:t>   Climate is the average of weather conditions in a place.</a:t>
            </a:r>
            <a:endParaRPr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p:nvPr/>
        </p:nvSpPr>
        <p:spPr>
          <a:xfrm>
            <a:off x="1659118" y="304800"/>
            <a:ext cx="9238268" cy="1143000"/>
          </a:xfrm>
          <a:prstGeom prst="rect">
            <a:avLst/>
          </a:prstGeom>
          <a:noFill/>
          <a:ln>
            <a:noFill/>
          </a:ln>
        </p:spPr>
        <p:txBody>
          <a:bodyPr spcFirstLastPara="1" wrap="square" lIns="91425" tIns="45700" rIns="91425" bIns="45700" anchor="ctr" anchorCtr="0">
            <a:noAutofit/>
          </a:bodyPr>
          <a:lstStyle/>
          <a:p>
            <a:pPr algn="ctr"/>
            <a:r>
              <a:rPr lang="en-US" sz="3200" dirty="0">
                <a:solidFill>
                  <a:srgbClr val="000000"/>
                </a:solidFill>
                <a:latin typeface="Times New Roman"/>
                <a:ea typeface="Times New Roman"/>
                <a:cs typeface="Times New Roman"/>
                <a:sym typeface="Times New Roman"/>
              </a:rPr>
              <a:t>Just as the weather differs from day to day, the climate differs from place to place.</a:t>
            </a:r>
            <a:endParaRPr dirty="0"/>
          </a:p>
        </p:txBody>
      </p:sp>
      <p:sp>
        <p:nvSpPr>
          <p:cNvPr id="130" name="Google Shape;130;p20"/>
          <p:cNvSpPr txBox="1"/>
          <p:nvPr/>
        </p:nvSpPr>
        <p:spPr>
          <a:xfrm>
            <a:off x="1086832" y="1676400"/>
            <a:ext cx="10215906" cy="4524275"/>
          </a:xfrm>
          <a:prstGeom prst="rect">
            <a:avLst/>
          </a:prstGeom>
          <a:noFill/>
          <a:ln>
            <a:noFill/>
          </a:ln>
        </p:spPr>
        <p:txBody>
          <a:bodyPr spcFirstLastPara="1" wrap="square" lIns="91425" tIns="45700" rIns="91425" bIns="45700" anchor="t" anchorCtr="0">
            <a:spAutoFit/>
          </a:bodyPr>
          <a:lstStyle/>
          <a:p>
            <a:r>
              <a:rPr lang="en-US" sz="3200" dirty="0">
                <a:solidFill>
                  <a:srgbClr val="000000"/>
                </a:solidFill>
                <a:latin typeface="Times New Roman"/>
                <a:ea typeface="Times New Roman"/>
                <a:cs typeface="Times New Roman"/>
                <a:sym typeface="Times New Roman"/>
              </a:rPr>
              <a:t>Climate do changes, just like weather. </a:t>
            </a:r>
            <a:endParaRPr dirty="0"/>
          </a:p>
          <a:p>
            <a:endParaRPr sz="3200" dirty="0">
              <a:solidFill>
                <a:srgbClr val="000000"/>
              </a:solidFill>
              <a:latin typeface="Times New Roman"/>
              <a:ea typeface="Times New Roman"/>
              <a:cs typeface="Times New Roman"/>
              <a:sym typeface="Times New Roman"/>
            </a:endParaRPr>
          </a:p>
          <a:p>
            <a:r>
              <a:rPr lang="en-US" sz="3200" dirty="0">
                <a:solidFill>
                  <a:srgbClr val="000000"/>
                </a:solidFill>
                <a:latin typeface="Times New Roman"/>
                <a:ea typeface="Times New Roman"/>
                <a:cs typeface="Times New Roman"/>
                <a:sym typeface="Times New Roman"/>
              </a:rPr>
              <a:t>However, climate change can take </a:t>
            </a:r>
            <a:r>
              <a:rPr lang="en-US" sz="3200" dirty="0">
                <a:latin typeface="Times New Roman"/>
                <a:ea typeface="Times New Roman"/>
                <a:cs typeface="Times New Roman"/>
                <a:sym typeface="Times New Roman"/>
              </a:rPr>
              <a:t>d</a:t>
            </a:r>
            <a:r>
              <a:rPr lang="en-US" sz="3200" dirty="0">
                <a:solidFill>
                  <a:srgbClr val="000000"/>
                </a:solidFill>
                <a:latin typeface="Times New Roman"/>
                <a:ea typeface="Times New Roman"/>
                <a:cs typeface="Times New Roman"/>
                <a:sym typeface="Times New Roman"/>
              </a:rPr>
              <a:t>ecades or even thousands of year</a:t>
            </a:r>
            <a:endParaRPr dirty="0"/>
          </a:p>
          <a:p>
            <a:endParaRPr sz="3200" dirty="0">
              <a:solidFill>
                <a:srgbClr val="000000"/>
              </a:solidFill>
              <a:latin typeface="Times New Roman"/>
              <a:ea typeface="Times New Roman"/>
              <a:cs typeface="Times New Roman"/>
              <a:sym typeface="Times New Roman"/>
            </a:endParaRPr>
          </a:p>
          <a:p>
            <a:r>
              <a:rPr lang="en-US" sz="3200" dirty="0">
                <a:solidFill>
                  <a:srgbClr val="000000"/>
                </a:solidFill>
                <a:latin typeface="Times New Roman"/>
                <a:ea typeface="Times New Roman"/>
                <a:cs typeface="Times New Roman"/>
                <a:sym typeface="Times New Roman"/>
              </a:rPr>
              <a:t> Today, the Sahara Desert in northern Africa is the largest desert in the world. However, several thousand years ago, the climate in the Sahara was quite different. This “Green Sahara” experienced frequent rainy weather.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3074" name="Picture 2"/>
          <p:cNvPicPr>
            <a:picLocks noChangeAspect="1" noChangeArrowheads="1"/>
          </p:cNvPicPr>
          <p:nvPr/>
        </p:nvPicPr>
        <p:blipFill>
          <a:blip r:embed="rId2"/>
          <a:srcRect/>
          <a:stretch>
            <a:fillRect/>
          </a:stretch>
        </p:blipFill>
        <p:spPr bwMode="auto">
          <a:xfrm>
            <a:off x="1828800" y="457200"/>
            <a:ext cx="8382000" cy="56388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4098" name="Picture 2"/>
          <p:cNvPicPr>
            <a:picLocks noChangeAspect="1" noChangeArrowheads="1"/>
          </p:cNvPicPr>
          <p:nvPr/>
        </p:nvPicPr>
        <p:blipFill>
          <a:blip r:embed="rId2"/>
          <a:srcRect/>
          <a:stretch>
            <a:fillRect/>
          </a:stretch>
        </p:blipFill>
        <p:spPr bwMode="auto">
          <a:xfrm>
            <a:off x="1905000" y="163417"/>
            <a:ext cx="8382000" cy="581828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96851" y="0"/>
            <a:ext cx="7999413" cy="763588"/>
          </a:xfrm>
        </p:spPr>
        <p:txBody>
          <a:bodyPr vert="horz" lIns="81639" tIns="42452" rIns="81639" bIns="42452" rtlCol="0" anchor="ctr">
            <a:normAutofit/>
          </a:bodyPr>
          <a:lstStyle/>
          <a:p>
            <a:pPr defTabSz="457200">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400"/>
              <a:t>Climate Change v. Climate Variability</a:t>
            </a:r>
          </a:p>
        </p:txBody>
      </p:sp>
      <p:sp>
        <p:nvSpPr>
          <p:cNvPr id="37891" name="Rectangle 3"/>
          <p:cNvSpPr>
            <a:spLocks noChangeArrowheads="1"/>
          </p:cNvSpPr>
          <p:nvPr/>
        </p:nvSpPr>
        <p:spPr bwMode="auto">
          <a:xfrm>
            <a:off x="2035175" y="4572000"/>
            <a:ext cx="4572000" cy="1373188"/>
          </a:xfrm>
          <a:prstGeom prst="rect">
            <a:avLst/>
          </a:prstGeom>
          <a:noFill/>
          <a:ln w="22320">
            <a:solidFill>
              <a:srgbClr val="000000"/>
            </a:solidFill>
            <a:miter lim="800000"/>
            <a:headEnd/>
            <a:tailEnd/>
          </a:ln>
        </p:spPr>
        <p:txBody>
          <a:bodyPr wrap="none" anchor="ctr"/>
          <a:lstStyle/>
          <a:p>
            <a:endParaRPr lang="en-US"/>
          </a:p>
        </p:txBody>
      </p:sp>
      <p:grpSp>
        <p:nvGrpSpPr>
          <p:cNvPr id="2" name="Group 4"/>
          <p:cNvGrpSpPr>
            <a:grpSpLocks/>
          </p:cNvGrpSpPr>
          <p:nvPr/>
        </p:nvGrpSpPr>
        <p:grpSpPr bwMode="auto">
          <a:xfrm>
            <a:off x="2035176" y="838200"/>
            <a:ext cx="4570413" cy="5105400"/>
            <a:chOff x="355" y="582"/>
            <a:chExt cx="3174" cy="3545"/>
          </a:xfrm>
        </p:grpSpPr>
        <p:sp>
          <p:nvSpPr>
            <p:cNvPr id="37907" name="Rectangle 5"/>
            <p:cNvSpPr>
              <a:spLocks noChangeArrowheads="1"/>
            </p:cNvSpPr>
            <p:nvPr/>
          </p:nvSpPr>
          <p:spPr bwMode="auto">
            <a:xfrm>
              <a:off x="355" y="582"/>
              <a:ext cx="3175" cy="900"/>
            </a:xfrm>
            <a:prstGeom prst="rect">
              <a:avLst/>
            </a:prstGeom>
            <a:noFill/>
            <a:ln w="22320">
              <a:solidFill>
                <a:srgbClr val="000000"/>
              </a:solidFill>
              <a:miter lim="800000"/>
              <a:headEnd/>
              <a:tailEnd/>
            </a:ln>
          </p:spPr>
          <p:txBody>
            <a:bodyPr wrap="none" anchor="ctr"/>
            <a:lstStyle/>
            <a:p>
              <a:endParaRPr lang="en-US"/>
            </a:p>
          </p:txBody>
        </p:sp>
        <p:sp>
          <p:nvSpPr>
            <p:cNvPr id="37908" name="Rectangle 6"/>
            <p:cNvSpPr>
              <a:spLocks noChangeArrowheads="1"/>
            </p:cNvSpPr>
            <p:nvPr/>
          </p:nvSpPr>
          <p:spPr bwMode="auto">
            <a:xfrm>
              <a:off x="355" y="1852"/>
              <a:ext cx="3175" cy="794"/>
            </a:xfrm>
            <a:prstGeom prst="rect">
              <a:avLst/>
            </a:prstGeom>
            <a:noFill/>
            <a:ln w="22320">
              <a:solidFill>
                <a:srgbClr val="000000"/>
              </a:solidFill>
              <a:miter lim="800000"/>
              <a:headEnd/>
              <a:tailEnd/>
            </a:ln>
          </p:spPr>
          <p:txBody>
            <a:bodyPr wrap="none" anchor="ctr"/>
            <a:lstStyle/>
            <a:p>
              <a:endParaRPr lang="en-US"/>
            </a:p>
          </p:txBody>
        </p:sp>
        <p:grpSp>
          <p:nvGrpSpPr>
            <p:cNvPr id="3" name="Group 7"/>
            <p:cNvGrpSpPr>
              <a:grpSpLocks/>
            </p:cNvGrpSpPr>
            <p:nvPr/>
          </p:nvGrpSpPr>
          <p:grpSpPr bwMode="auto">
            <a:xfrm>
              <a:off x="355" y="635"/>
              <a:ext cx="3174" cy="3492"/>
              <a:chOff x="355" y="635"/>
              <a:chExt cx="3174" cy="3492"/>
            </a:xfrm>
          </p:grpSpPr>
          <p:pic>
            <p:nvPicPr>
              <p:cNvPr id="37910" name="Picture 8"/>
              <p:cNvPicPr>
                <a:picLocks noChangeAspect="1" noChangeArrowheads="1"/>
              </p:cNvPicPr>
              <p:nvPr/>
            </p:nvPicPr>
            <p:blipFill>
              <a:blip r:embed="rId3"/>
              <a:srcRect l="12982" t="11098" r="9114" b="11215"/>
              <a:stretch>
                <a:fillRect/>
              </a:stretch>
            </p:blipFill>
            <p:spPr bwMode="auto">
              <a:xfrm>
                <a:off x="355" y="635"/>
                <a:ext cx="3175" cy="3493"/>
              </a:xfrm>
              <a:prstGeom prst="rect">
                <a:avLst/>
              </a:prstGeom>
              <a:noFill/>
              <a:ln w="9525">
                <a:noFill/>
                <a:round/>
                <a:headEnd/>
                <a:tailEnd/>
              </a:ln>
            </p:spPr>
          </p:pic>
          <p:sp>
            <p:nvSpPr>
              <p:cNvPr id="37911" name="Line 9"/>
              <p:cNvSpPr>
                <a:spLocks noChangeShapeType="1"/>
              </p:cNvSpPr>
              <p:nvPr/>
            </p:nvSpPr>
            <p:spPr bwMode="auto">
              <a:xfrm>
                <a:off x="1837" y="1534"/>
                <a:ext cx="1" cy="212"/>
              </a:xfrm>
              <a:prstGeom prst="line">
                <a:avLst/>
              </a:prstGeom>
              <a:noFill/>
              <a:ln w="63360">
                <a:solidFill>
                  <a:srgbClr val="000000"/>
                </a:solidFill>
                <a:miter lim="800000"/>
                <a:headEnd/>
                <a:tailEnd/>
              </a:ln>
            </p:spPr>
            <p:txBody>
              <a:bodyPr/>
              <a:lstStyle/>
              <a:p>
                <a:endParaRPr lang="en-US"/>
              </a:p>
            </p:txBody>
          </p:sp>
          <p:sp>
            <p:nvSpPr>
              <p:cNvPr id="37912" name="Line 10"/>
              <p:cNvSpPr>
                <a:spLocks noChangeShapeType="1"/>
              </p:cNvSpPr>
              <p:nvPr/>
            </p:nvSpPr>
            <p:spPr bwMode="auto">
              <a:xfrm>
                <a:off x="1731" y="1640"/>
                <a:ext cx="212" cy="1"/>
              </a:xfrm>
              <a:prstGeom prst="line">
                <a:avLst/>
              </a:prstGeom>
              <a:noFill/>
              <a:ln w="63360">
                <a:solidFill>
                  <a:srgbClr val="000000"/>
                </a:solidFill>
                <a:miter lim="800000"/>
                <a:headEnd/>
                <a:tailEnd/>
              </a:ln>
            </p:spPr>
            <p:txBody>
              <a:bodyPr/>
              <a:lstStyle/>
              <a:p>
                <a:endParaRPr lang="en-US"/>
              </a:p>
            </p:txBody>
          </p:sp>
          <p:sp>
            <p:nvSpPr>
              <p:cNvPr id="37913" name="Line 11"/>
              <p:cNvSpPr>
                <a:spLocks noChangeShapeType="1"/>
              </p:cNvSpPr>
              <p:nvPr/>
            </p:nvSpPr>
            <p:spPr bwMode="auto">
              <a:xfrm>
                <a:off x="1731" y="2857"/>
                <a:ext cx="212" cy="1"/>
              </a:xfrm>
              <a:prstGeom prst="line">
                <a:avLst/>
              </a:prstGeom>
              <a:noFill/>
              <a:ln w="63360">
                <a:solidFill>
                  <a:srgbClr val="000000"/>
                </a:solidFill>
                <a:miter lim="800000"/>
                <a:headEnd/>
                <a:tailEnd/>
              </a:ln>
            </p:spPr>
            <p:txBody>
              <a:bodyPr/>
              <a:lstStyle/>
              <a:p>
                <a:endParaRPr lang="en-US"/>
              </a:p>
            </p:txBody>
          </p:sp>
          <p:sp>
            <p:nvSpPr>
              <p:cNvPr id="37914" name="Line 12"/>
              <p:cNvSpPr>
                <a:spLocks noChangeShapeType="1"/>
              </p:cNvSpPr>
              <p:nvPr/>
            </p:nvSpPr>
            <p:spPr bwMode="auto">
              <a:xfrm>
                <a:off x="1731" y="2963"/>
                <a:ext cx="212" cy="1"/>
              </a:xfrm>
              <a:prstGeom prst="line">
                <a:avLst/>
              </a:prstGeom>
              <a:noFill/>
              <a:ln w="63360">
                <a:solidFill>
                  <a:srgbClr val="000000"/>
                </a:solidFill>
                <a:miter lim="800000"/>
                <a:headEnd/>
                <a:tailEnd/>
              </a:ln>
            </p:spPr>
            <p:txBody>
              <a:bodyPr/>
              <a:lstStyle/>
              <a:p>
                <a:endParaRPr lang="en-US"/>
              </a:p>
            </p:txBody>
          </p:sp>
        </p:grpSp>
      </p:grpSp>
      <p:sp>
        <p:nvSpPr>
          <p:cNvPr id="37893" name="Text Box 13"/>
          <p:cNvSpPr txBox="1">
            <a:spLocks noChangeArrowheads="1"/>
          </p:cNvSpPr>
          <p:nvPr/>
        </p:nvSpPr>
        <p:spPr bwMode="auto">
          <a:xfrm>
            <a:off x="7620000" y="4724400"/>
            <a:ext cx="3048000" cy="772716"/>
          </a:xfrm>
          <a:prstGeom prst="rect">
            <a:avLst/>
          </a:prstGeom>
          <a:noFill/>
          <a:ln w="9525">
            <a:noFill/>
            <a:round/>
            <a:headEnd/>
            <a:tailEnd/>
          </a:ln>
        </p:spPr>
        <p:txBody>
          <a:bodyPr lIns="81639" tIns="42452" rIns="81639" bIns="42452">
            <a:spAutoFit/>
          </a:bodyPr>
          <a:lstStyle/>
          <a:p>
            <a:pPr defTabSz="414338" hangingPunct="0">
              <a:lnSpc>
                <a:spcPct val="93000"/>
              </a:lnSpc>
              <a:spcBef>
                <a:spcPts val="1363"/>
              </a:spcBef>
              <a:buClr>
                <a:srgbClr val="000000"/>
              </a:buClr>
              <a:buSzPct val="45000"/>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2400">
                <a:solidFill>
                  <a:srgbClr val="000000"/>
                </a:solidFill>
                <a:latin typeface="Arial" charset="0"/>
              </a:rPr>
              <a:t>We see the sum of both</a:t>
            </a:r>
          </a:p>
        </p:txBody>
      </p:sp>
      <p:sp>
        <p:nvSpPr>
          <p:cNvPr id="37894" name="Text Box 14"/>
          <p:cNvSpPr txBox="1">
            <a:spLocks noChangeArrowheads="1"/>
          </p:cNvSpPr>
          <p:nvPr/>
        </p:nvSpPr>
        <p:spPr bwMode="auto">
          <a:xfrm>
            <a:off x="7531100" y="2895600"/>
            <a:ext cx="3136900" cy="772716"/>
          </a:xfrm>
          <a:prstGeom prst="rect">
            <a:avLst/>
          </a:prstGeom>
          <a:noFill/>
          <a:ln w="9525">
            <a:noFill/>
            <a:round/>
            <a:headEnd/>
            <a:tailEnd/>
          </a:ln>
        </p:spPr>
        <p:txBody>
          <a:bodyPr lIns="81639" tIns="42452" rIns="81639" bIns="42452">
            <a:spAutoFit/>
          </a:bodyPr>
          <a:lstStyle/>
          <a:p>
            <a:pPr defTabSz="414338" hangingPunct="0">
              <a:lnSpc>
                <a:spcPct val="93000"/>
              </a:lnSpc>
              <a:spcBef>
                <a:spcPts val="1363"/>
              </a:spcBef>
              <a:buClr>
                <a:srgbClr val="000000"/>
              </a:buClr>
              <a:buSzPct val="45000"/>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2400">
                <a:solidFill>
                  <a:srgbClr val="000000"/>
                </a:solidFill>
                <a:latin typeface="Arial" charset="0"/>
              </a:rPr>
              <a:t>Climate variability (e.g. Natural swings)</a:t>
            </a:r>
          </a:p>
        </p:txBody>
      </p:sp>
      <p:sp>
        <p:nvSpPr>
          <p:cNvPr id="37895" name="Text Box 15"/>
          <p:cNvSpPr txBox="1">
            <a:spLocks noChangeArrowheads="1"/>
          </p:cNvSpPr>
          <p:nvPr/>
        </p:nvSpPr>
        <p:spPr bwMode="auto">
          <a:xfrm>
            <a:off x="7620001" y="1066800"/>
            <a:ext cx="3038475" cy="772716"/>
          </a:xfrm>
          <a:prstGeom prst="rect">
            <a:avLst/>
          </a:prstGeom>
          <a:noFill/>
          <a:ln w="9525">
            <a:noFill/>
            <a:round/>
            <a:headEnd/>
            <a:tailEnd/>
          </a:ln>
        </p:spPr>
        <p:txBody>
          <a:bodyPr lIns="81639" tIns="42452" rIns="81639" bIns="42452">
            <a:spAutoFit/>
          </a:bodyPr>
          <a:lstStyle/>
          <a:p>
            <a:pPr defTabSz="414338" hangingPunct="0">
              <a:lnSpc>
                <a:spcPct val="93000"/>
              </a:lnSpc>
              <a:spcBef>
                <a:spcPts val="1363"/>
              </a:spcBef>
              <a:buClr>
                <a:srgbClr val="000000"/>
              </a:buClr>
              <a:buSzPct val="45000"/>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2400">
                <a:solidFill>
                  <a:srgbClr val="000000"/>
                </a:solidFill>
                <a:latin typeface="Arial" charset="0"/>
              </a:rPr>
              <a:t>Climate change    (e.g. warming trend)</a:t>
            </a:r>
          </a:p>
        </p:txBody>
      </p:sp>
      <p:sp>
        <p:nvSpPr>
          <p:cNvPr id="37896" name="Line 16"/>
          <p:cNvSpPr>
            <a:spLocks noChangeShapeType="1"/>
          </p:cNvSpPr>
          <p:nvPr/>
        </p:nvSpPr>
        <p:spPr bwMode="auto">
          <a:xfrm flipH="1" flipV="1">
            <a:off x="6680200" y="1216026"/>
            <a:ext cx="844550" cy="157163"/>
          </a:xfrm>
          <a:prstGeom prst="line">
            <a:avLst/>
          </a:prstGeom>
          <a:noFill/>
          <a:ln w="38160">
            <a:solidFill>
              <a:srgbClr val="000000"/>
            </a:solidFill>
            <a:miter lim="800000"/>
            <a:headEnd/>
            <a:tailEnd type="triangle" w="med" len="med"/>
          </a:ln>
        </p:spPr>
        <p:txBody>
          <a:bodyPr/>
          <a:lstStyle/>
          <a:p>
            <a:endParaRPr lang="en-US"/>
          </a:p>
        </p:txBody>
      </p:sp>
      <p:sp>
        <p:nvSpPr>
          <p:cNvPr id="37897" name="Line 17"/>
          <p:cNvSpPr>
            <a:spLocks noChangeShapeType="1"/>
          </p:cNvSpPr>
          <p:nvPr/>
        </p:nvSpPr>
        <p:spPr bwMode="auto">
          <a:xfrm flipH="1" flipV="1">
            <a:off x="6680200" y="3044825"/>
            <a:ext cx="844550" cy="158750"/>
          </a:xfrm>
          <a:prstGeom prst="line">
            <a:avLst/>
          </a:prstGeom>
          <a:noFill/>
          <a:ln w="38160">
            <a:solidFill>
              <a:srgbClr val="000000"/>
            </a:solidFill>
            <a:miter lim="800000"/>
            <a:headEnd/>
            <a:tailEnd type="triangle" w="med" len="med"/>
          </a:ln>
        </p:spPr>
        <p:txBody>
          <a:bodyPr/>
          <a:lstStyle/>
          <a:p>
            <a:endParaRPr lang="en-US"/>
          </a:p>
        </p:txBody>
      </p:sp>
      <p:sp>
        <p:nvSpPr>
          <p:cNvPr id="37898" name="Line 18"/>
          <p:cNvSpPr>
            <a:spLocks noChangeShapeType="1"/>
          </p:cNvSpPr>
          <p:nvPr/>
        </p:nvSpPr>
        <p:spPr bwMode="auto">
          <a:xfrm flipH="1" flipV="1">
            <a:off x="6680200" y="4873625"/>
            <a:ext cx="844550" cy="158750"/>
          </a:xfrm>
          <a:prstGeom prst="line">
            <a:avLst/>
          </a:prstGeom>
          <a:noFill/>
          <a:ln w="38160">
            <a:solidFill>
              <a:srgbClr val="000000"/>
            </a:solidFill>
            <a:miter lim="800000"/>
            <a:headEnd/>
            <a:tailEnd type="triangle" w="med" len="med"/>
          </a:ln>
        </p:spPr>
        <p:txBody>
          <a:bodyPr/>
          <a:lstStyle/>
          <a:p>
            <a:endParaRPr lang="en-US"/>
          </a:p>
        </p:txBody>
      </p:sp>
      <p:sp>
        <p:nvSpPr>
          <p:cNvPr id="37899" name="Text Box 19"/>
          <p:cNvSpPr txBox="1">
            <a:spLocks noChangeArrowheads="1"/>
          </p:cNvSpPr>
          <p:nvPr/>
        </p:nvSpPr>
        <p:spPr bwMode="auto">
          <a:xfrm>
            <a:off x="4014788" y="6037264"/>
            <a:ext cx="1384300" cy="346075"/>
          </a:xfrm>
          <a:prstGeom prst="rect">
            <a:avLst/>
          </a:prstGeom>
          <a:noFill/>
          <a:ln w="9525">
            <a:noFill/>
            <a:round/>
            <a:headEnd/>
            <a:tailEnd/>
          </a:ln>
        </p:spPr>
        <p:txBody>
          <a:bodyPr wrap="none" lIns="81639" tIns="40820" rIns="81639" bIns="40820"/>
          <a:lstStyle/>
          <a:p>
            <a:pPr defTabSz="414338" hangingPunct="0">
              <a:lnSpc>
                <a:spcPct val="93000"/>
              </a:lnSpc>
              <a:buClr>
                <a:srgbClr val="000000"/>
              </a:buClr>
              <a:buSzPct val="45000"/>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a:solidFill>
                  <a:srgbClr val="000000"/>
                </a:solidFill>
                <a:latin typeface="Arial" charset="0"/>
              </a:rPr>
              <a:t>Time (years)</a:t>
            </a:r>
          </a:p>
        </p:txBody>
      </p:sp>
      <p:sp>
        <p:nvSpPr>
          <p:cNvPr id="37900" name="Line 20"/>
          <p:cNvSpPr>
            <a:spLocks noChangeShapeType="1"/>
          </p:cNvSpPr>
          <p:nvPr/>
        </p:nvSpPr>
        <p:spPr bwMode="auto">
          <a:xfrm>
            <a:off x="3451225" y="6408739"/>
            <a:ext cx="1943100" cy="1587"/>
          </a:xfrm>
          <a:prstGeom prst="line">
            <a:avLst/>
          </a:prstGeom>
          <a:noFill/>
          <a:ln w="54720">
            <a:solidFill>
              <a:srgbClr val="000000"/>
            </a:solidFill>
            <a:round/>
            <a:headEnd/>
            <a:tailEnd type="triangle" w="med" len="med"/>
          </a:ln>
        </p:spPr>
        <p:txBody>
          <a:bodyPr/>
          <a:lstStyle/>
          <a:p>
            <a:endParaRPr lang="en-US"/>
          </a:p>
        </p:txBody>
      </p:sp>
      <p:sp>
        <p:nvSpPr>
          <p:cNvPr id="37901" name="Text Box 21"/>
          <p:cNvSpPr txBox="1">
            <a:spLocks noChangeArrowheads="1"/>
          </p:cNvSpPr>
          <p:nvPr/>
        </p:nvSpPr>
        <p:spPr bwMode="auto">
          <a:xfrm>
            <a:off x="4806951" y="2614613"/>
            <a:ext cx="2613025" cy="387350"/>
          </a:xfrm>
          <a:prstGeom prst="rect">
            <a:avLst/>
          </a:prstGeom>
          <a:noFill/>
          <a:ln w="9525">
            <a:noFill/>
            <a:round/>
            <a:headEnd/>
            <a:tailEnd/>
          </a:ln>
        </p:spPr>
        <p:txBody>
          <a:bodyPr wrap="none" anchor="ctr"/>
          <a:lstStyle/>
          <a:p>
            <a:endParaRPr lang="en-US"/>
          </a:p>
        </p:txBody>
      </p:sp>
      <p:sp>
        <p:nvSpPr>
          <p:cNvPr id="37902" name="Text Box 22"/>
          <p:cNvSpPr txBox="1">
            <a:spLocks noChangeArrowheads="1"/>
          </p:cNvSpPr>
          <p:nvPr/>
        </p:nvSpPr>
        <p:spPr bwMode="auto">
          <a:xfrm>
            <a:off x="7080250" y="2614613"/>
            <a:ext cx="2116138" cy="387350"/>
          </a:xfrm>
          <a:prstGeom prst="rect">
            <a:avLst/>
          </a:prstGeom>
          <a:noFill/>
          <a:ln w="9525">
            <a:noFill/>
            <a:round/>
            <a:headEnd/>
            <a:tailEnd/>
          </a:ln>
        </p:spPr>
        <p:txBody>
          <a:bodyPr wrap="none" anchor="ctr"/>
          <a:lstStyle/>
          <a:p>
            <a:endParaRPr lang="en-US"/>
          </a:p>
        </p:txBody>
      </p:sp>
      <p:sp>
        <p:nvSpPr>
          <p:cNvPr id="37903" name="Text Box 23"/>
          <p:cNvSpPr txBox="1">
            <a:spLocks noChangeArrowheads="1"/>
          </p:cNvSpPr>
          <p:nvPr/>
        </p:nvSpPr>
        <p:spPr bwMode="auto">
          <a:xfrm>
            <a:off x="4806951" y="2614613"/>
            <a:ext cx="2613025" cy="387350"/>
          </a:xfrm>
          <a:prstGeom prst="rect">
            <a:avLst/>
          </a:prstGeom>
          <a:noFill/>
          <a:ln w="9525">
            <a:noFill/>
            <a:round/>
            <a:headEnd/>
            <a:tailEnd/>
          </a:ln>
        </p:spPr>
        <p:txBody>
          <a:bodyPr wrap="none" anchor="ctr"/>
          <a:lstStyle/>
          <a:p>
            <a:endParaRPr lang="en-US"/>
          </a:p>
        </p:txBody>
      </p:sp>
      <p:sp>
        <p:nvSpPr>
          <p:cNvPr id="37904" name="Text Box 24"/>
          <p:cNvSpPr txBox="1">
            <a:spLocks noChangeArrowheads="1"/>
          </p:cNvSpPr>
          <p:nvPr/>
        </p:nvSpPr>
        <p:spPr bwMode="auto">
          <a:xfrm>
            <a:off x="6915150" y="2614613"/>
            <a:ext cx="165100" cy="387350"/>
          </a:xfrm>
          <a:prstGeom prst="rect">
            <a:avLst/>
          </a:prstGeom>
          <a:noFill/>
          <a:ln w="9525">
            <a:noFill/>
            <a:round/>
            <a:headEnd/>
            <a:tailEnd/>
          </a:ln>
        </p:spPr>
        <p:txBody>
          <a:bodyPr wrap="none" anchor="ctr"/>
          <a:lstStyle/>
          <a:p>
            <a:endParaRPr lang="en-US"/>
          </a:p>
        </p:txBody>
      </p:sp>
      <p:sp>
        <p:nvSpPr>
          <p:cNvPr id="37905" name="Text Box 25"/>
          <p:cNvSpPr txBox="1">
            <a:spLocks noChangeArrowheads="1"/>
          </p:cNvSpPr>
          <p:nvPr/>
        </p:nvSpPr>
        <p:spPr bwMode="auto">
          <a:xfrm rot="-5400000">
            <a:off x="1306513" y="5089525"/>
            <a:ext cx="1192212" cy="312738"/>
          </a:xfrm>
          <a:prstGeom prst="rect">
            <a:avLst/>
          </a:prstGeom>
          <a:noFill/>
          <a:ln w="9525">
            <a:noFill/>
            <a:round/>
            <a:headEnd/>
            <a:tailEnd/>
          </a:ln>
        </p:spPr>
        <p:txBody>
          <a:bodyPr lIns="81639" tIns="40820" rIns="81639" bIns="40820"/>
          <a:lstStyle/>
          <a:p>
            <a:pPr defTabSz="414338" hangingPunct="0">
              <a:lnSpc>
                <a:spcPct val="93000"/>
              </a:lnSpc>
              <a:buClr>
                <a:srgbClr val="000000"/>
              </a:buClr>
              <a:buSzPct val="45000"/>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a:solidFill>
                  <a:srgbClr val="000000"/>
                </a:solidFill>
                <a:latin typeface="Arial" charset="0"/>
              </a:rPr>
              <a:t>"climate"</a:t>
            </a:r>
          </a:p>
        </p:txBody>
      </p:sp>
      <p:sp>
        <p:nvSpPr>
          <p:cNvPr id="37906" name="Line 26"/>
          <p:cNvSpPr>
            <a:spLocks noChangeShapeType="1"/>
          </p:cNvSpPr>
          <p:nvPr/>
        </p:nvSpPr>
        <p:spPr bwMode="auto">
          <a:xfrm flipV="1">
            <a:off x="1655764" y="4810126"/>
            <a:ext cx="1587" cy="906463"/>
          </a:xfrm>
          <a:prstGeom prst="line">
            <a:avLst/>
          </a:prstGeom>
          <a:noFill/>
          <a:ln w="54720">
            <a:solidFill>
              <a:srgbClr val="000000"/>
            </a:solidFill>
            <a:round/>
            <a:headEnd type="triangle" w="med" len="med"/>
            <a:tailEnd type="triangle" w="med" len="med"/>
          </a:ln>
        </p:spPr>
        <p:txBody>
          <a:bodyPr/>
          <a:lstStyle/>
          <a:p>
            <a:endParaRPr lang="en-US"/>
          </a:p>
        </p:txBody>
      </p:sp>
      <p:sp>
        <p:nvSpPr>
          <p:cNvPr id="28" name="Slide Number Placeholder 27"/>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274638"/>
            <a:ext cx="8229600" cy="715962"/>
          </a:xfrm>
        </p:spPr>
        <p:txBody>
          <a:bodyPr>
            <a:normAutofit/>
          </a:bodyPr>
          <a:lstStyle/>
          <a:p>
            <a:pPr eaLnBrk="1" hangingPunct="1"/>
            <a:r>
              <a:rPr lang="en-US" dirty="0">
                <a:solidFill>
                  <a:srgbClr val="00B0F0"/>
                </a:solidFill>
              </a:rPr>
              <a:t>Factors that influence climate</a:t>
            </a:r>
          </a:p>
        </p:txBody>
      </p:sp>
      <p:sp>
        <p:nvSpPr>
          <p:cNvPr id="7171" name="Rectangle 3"/>
          <p:cNvSpPr>
            <a:spLocks noGrp="1" noChangeArrowheads="1"/>
          </p:cNvSpPr>
          <p:nvPr>
            <p:ph type="body" idx="1"/>
          </p:nvPr>
        </p:nvSpPr>
        <p:spPr>
          <a:xfrm>
            <a:off x="1716088" y="1206500"/>
            <a:ext cx="8788400" cy="4789488"/>
          </a:xfrm>
        </p:spPr>
        <p:txBody>
          <a:bodyPr/>
          <a:lstStyle/>
          <a:p>
            <a:pPr marL="63500" indent="0">
              <a:lnSpc>
                <a:spcPct val="100000"/>
              </a:lnSpc>
              <a:spcBef>
                <a:spcPct val="0"/>
              </a:spcBef>
              <a:buNone/>
            </a:pPr>
            <a:r>
              <a:rPr lang="en-US" dirty="0"/>
              <a:t>Three factors influence Earth’s climate more than all others combined:</a:t>
            </a:r>
          </a:p>
          <a:p>
            <a:pPr marL="63500" indent="0">
              <a:lnSpc>
                <a:spcPct val="100000"/>
              </a:lnSpc>
              <a:spcBef>
                <a:spcPct val="0"/>
              </a:spcBef>
              <a:buNone/>
            </a:pPr>
            <a:endParaRPr lang="en-US" dirty="0"/>
          </a:p>
          <a:p>
            <a:pPr lvl="1">
              <a:lnSpc>
                <a:spcPct val="100000"/>
              </a:lnSpc>
              <a:spcBef>
                <a:spcPct val="0"/>
              </a:spcBef>
              <a:buClr>
                <a:srgbClr val="006600"/>
              </a:buClr>
              <a:buFontTx/>
              <a:buNone/>
            </a:pPr>
            <a:r>
              <a:rPr lang="en-US" dirty="0"/>
              <a:t>1.The </a:t>
            </a:r>
            <a:r>
              <a:rPr lang="en-US" b="1" u="sng" dirty="0"/>
              <a:t>sun</a:t>
            </a:r>
            <a:r>
              <a:rPr lang="en-US" dirty="0"/>
              <a:t>, which provides most of Earth’s energy</a:t>
            </a:r>
          </a:p>
          <a:p>
            <a:pPr marL="63500" indent="0">
              <a:lnSpc>
                <a:spcPct val="100000"/>
              </a:lnSpc>
              <a:spcBef>
                <a:spcPct val="0"/>
              </a:spcBef>
              <a:buFontTx/>
              <a:buChar char="•"/>
            </a:pPr>
            <a:endParaRPr lang="en-US" dirty="0"/>
          </a:p>
          <a:p>
            <a:pPr lvl="1">
              <a:lnSpc>
                <a:spcPct val="100000"/>
              </a:lnSpc>
              <a:spcBef>
                <a:spcPct val="0"/>
              </a:spcBef>
              <a:buClr>
                <a:srgbClr val="006600"/>
              </a:buClr>
              <a:buFontTx/>
              <a:buNone/>
            </a:pPr>
            <a:r>
              <a:rPr lang="en-US" dirty="0"/>
              <a:t>2.The </a:t>
            </a:r>
            <a:r>
              <a:rPr lang="en-US" b="1" u="sng" dirty="0"/>
              <a:t>atmosphere</a:t>
            </a:r>
            <a:r>
              <a:rPr lang="en-US" dirty="0"/>
              <a:t>, which both absorbs energy from the sun and reflects it back into space</a:t>
            </a:r>
          </a:p>
          <a:p>
            <a:pPr marL="63500" indent="0">
              <a:lnSpc>
                <a:spcPct val="100000"/>
              </a:lnSpc>
              <a:spcBef>
                <a:spcPct val="0"/>
              </a:spcBef>
              <a:buFontTx/>
              <a:buChar char="•"/>
            </a:pPr>
            <a:endParaRPr lang="en-US" dirty="0"/>
          </a:p>
          <a:p>
            <a:pPr lvl="1">
              <a:lnSpc>
                <a:spcPct val="100000"/>
              </a:lnSpc>
              <a:spcBef>
                <a:spcPct val="0"/>
              </a:spcBef>
              <a:buClr>
                <a:srgbClr val="006600"/>
              </a:buClr>
              <a:buFontTx/>
              <a:buNone/>
            </a:pPr>
            <a:r>
              <a:rPr lang="en-US" dirty="0"/>
              <a:t>3. The </a:t>
            </a:r>
            <a:r>
              <a:rPr lang="en-US" b="1" u="sng" dirty="0"/>
              <a:t>oceans</a:t>
            </a:r>
            <a:r>
              <a:rPr lang="en-US" dirty="0"/>
              <a:t>, which stores and transports heat and moisture</a:t>
            </a:r>
          </a:p>
          <a:p>
            <a:pPr marL="63500" indent="0">
              <a:lnSpc>
                <a:spcPct val="100000"/>
              </a:lnSpc>
              <a:spcBef>
                <a:spcPct val="0"/>
              </a:spcBef>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2051" name="Picture 3"/>
          <p:cNvPicPr>
            <a:picLocks noChangeAspect="1" noChangeArrowheads="1"/>
          </p:cNvPicPr>
          <p:nvPr/>
        </p:nvPicPr>
        <p:blipFill>
          <a:blip r:embed="rId2"/>
          <a:srcRect/>
          <a:stretch>
            <a:fillRect/>
          </a:stretch>
        </p:blipFill>
        <p:spPr bwMode="auto">
          <a:xfrm>
            <a:off x="1981200" y="304801"/>
            <a:ext cx="8447004" cy="60356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a:spLocks noGrp="1"/>
          </p:cNvSpPr>
          <p:nvPr>
            <p:ph type="title"/>
          </p:nvPr>
        </p:nvSpPr>
        <p:spPr>
          <a:xfrm>
            <a:off x="1981200" y="228600"/>
            <a:ext cx="8229600" cy="6985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000000"/>
              </a:buClr>
              <a:buSzPct val="100000"/>
            </a:pPr>
            <a:r>
              <a:rPr lang="en-US" sz="3600">
                <a:solidFill>
                  <a:srgbClr val="000000"/>
                </a:solidFill>
              </a:rPr>
              <a:t>Temperature Basics</a:t>
            </a:r>
            <a:r>
              <a:rPr lang="en-US" i="0">
                <a:solidFill>
                  <a:srgbClr val="000000"/>
                </a:solidFill>
              </a:rPr>
              <a:t> </a:t>
            </a:r>
            <a:endParaRPr/>
          </a:p>
        </p:txBody>
      </p:sp>
      <p:sp>
        <p:nvSpPr>
          <p:cNvPr id="195" name="Google Shape;195;p28"/>
          <p:cNvSpPr txBox="1">
            <a:spLocks noGrp="1"/>
          </p:cNvSpPr>
          <p:nvPr>
            <p:ph type="body" idx="1"/>
          </p:nvPr>
        </p:nvSpPr>
        <p:spPr>
          <a:xfrm>
            <a:off x="1676400" y="1066800"/>
            <a:ext cx="8534400" cy="2743200"/>
          </a:xfrm>
          <a:prstGeom prst="rect">
            <a:avLst/>
          </a:prstGeom>
          <a:noFill/>
          <a:ln>
            <a:noFill/>
          </a:ln>
        </p:spPr>
        <p:txBody>
          <a:bodyPr spcFirstLastPara="1" vert="horz" wrap="square" lIns="91425" tIns="45700" rIns="91425" bIns="45700" rtlCol="0" anchor="t" anchorCtr="0">
            <a:normAutofit fontScale="92500" lnSpcReduction="20000"/>
          </a:bodyPr>
          <a:lstStyle/>
          <a:p>
            <a:pPr marL="342900" indent="-342900">
              <a:spcBef>
                <a:spcPts val="0"/>
              </a:spcBef>
              <a:buClr>
                <a:schemeClr val="dk1"/>
              </a:buClr>
              <a:buSzPct val="100000"/>
            </a:pPr>
            <a:r>
              <a:rPr lang="en-US" sz="2400" b="1" dirty="0"/>
              <a:t>Temperature</a:t>
            </a:r>
            <a:r>
              <a:rPr lang="en-US" sz="2400" dirty="0"/>
              <a:t> – measure of average kinetic energy (motion) of individual molecules in matter</a:t>
            </a:r>
            <a:endParaRPr dirty="0"/>
          </a:p>
          <a:p>
            <a:pPr marL="342900" indent="-342900">
              <a:spcBef>
                <a:spcPts val="444"/>
              </a:spcBef>
              <a:buClr>
                <a:schemeClr val="dk1"/>
              </a:buClr>
              <a:buSzPct val="100000"/>
            </a:pPr>
            <a:r>
              <a:rPr lang="en-US" sz="2400" dirty="0"/>
              <a:t>Temperature is measured with a thermometer and refers to how hot or cold the atmosphere is</a:t>
            </a:r>
            <a:endParaRPr sz="2400" dirty="0"/>
          </a:p>
          <a:p>
            <a:pPr marL="342900" indent="-342900">
              <a:spcBef>
                <a:spcPts val="444"/>
              </a:spcBef>
              <a:buClr>
                <a:schemeClr val="dk1"/>
              </a:buClr>
              <a:buSzPct val="100000"/>
            </a:pPr>
            <a:r>
              <a:rPr lang="en-US" sz="2400" dirty="0">
                <a:latin typeface="Arial"/>
                <a:ea typeface="Arial"/>
                <a:cs typeface="Arial"/>
                <a:sym typeface="Arial"/>
              </a:rPr>
              <a:t>Three temperature scales (units): Kelvin (K), Celsius (C), Fahrenheit (F)</a:t>
            </a:r>
            <a:endParaRPr dirty="0"/>
          </a:p>
          <a:p>
            <a:pPr marL="742950" lvl="1" indent="-285750">
              <a:spcBef>
                <a:spcPts val="444"/>
              </a:spcBef>
              <a:buClr>
                <a:schemeClr val="dk1"/>
              </a:buClr>
              <a:buSzPct val="100000"/>
              <a:buChar char="–"/>
            </a:pPr>
            <a:r>
              <a:rPr lang="en-US" dirty="0">
                <a:latin typeface="Arial"/>
                <a:ea typeface="Arial"/>
                <a:cs typeface="Arial"/>
                <a:sym typeface="Arial"/>
              </a:rPr>
              <a:t>All scales are relative</a:t>
            </a:r>
            <a:endParaRPr dirty="0"/>
          </a:p>
          <a:p>
            <a:pPr marL="742950" lvl="1" indent="-285750">
              <a:spcBef>
                <a:spcPts val="444"/>
              </a:spcBef>
              <a:buClr>
                <a:schemeClr val="dk1"/>
              </a:buClr>
              <a:buSzPct val="100000"/>
              <a:buChar char="–"/>
            </a:pPr>
            <a:r>
              <a:rPr lang="en-US" dirty="0">
                <a:latin typeface="Arial"/>
                <a:ea typeface="Arial"/>
                <a:cs typeface="Arial"/>
                <a:sym typeface="Arial"/>
              </a:rPr>
              <a:t>degrees F = </a:t>
            </a:r>
            <a:r>
              <a:rPr lang="en-US" baseline="30000" dirty="0">
                <a:latin typeface="Arial"/>
                <a:ea typeface="Arial"/>
                <a:cs typeface="Arial"/>
                <a:sym typeface="Arial"/>
              </a:rPr>
              <a:t>9</a:t>
            </a:r>
            <a:r>
              <a:rPr lang="en-US" dirty="0">
                <a:latin typeface="Arial"/>
                <a:ea typeface="Arial"/>
                <a:cs typeface="Arial"/>
                <a:sym typeface="Arial"/>
              </a:rPr>
              <a:t>⁄</a:t>
            </a:r>
            <a:r>
              <a:rPr lang="en-US" baseline="-25000" dirty="0">
                <a:latin typeface="Arial"/>
                <a:ea typeface="Arial"/>
                <a:cs typeface="Arial"/>
                <a:sym typeface="Arial"/>
              </a:rPr>
              <a:t>5</a:t>
            </a:r>
            <a:r>
              <a:rPr lang="en-US" dirty="0">
                <a:latin typeface="Arial"/>
                <a:ea typeface="Arial"/>
                <a:cs typeface="Arial"/>
                <a:sym typeface="Arial"/>
              </a:rPr>
              <a:t> degrees C + 32</a:t>
            </a:r>
            <a:endParaRPr dirty="0"/>
          </a:p>
          <a:p>
            <a:pPr marL="742950" lvl="1" indent="-285750">
              <a:spcBef>
                <a:spcPts val="444"/>
              </a:spcBef>
              <a:buClr>
                <a:schemeClr val="dk1"/>
              </a:buClr>
              <a:buSzPct val="100000"/>
              <a:buChar char="–"/>
            </a:pPr>
            <a:r>
              <a:rPr lang="en-US" dirty="0">
                <a:latin typeface="Arial"/>
                <a:ea typeface="Arial"/>
                <a:cs typeface="Arial"/>
                <a:sym typeface="Arial"/>
              </a:rPr>
              <a:t>degrees K = degrees C + 273.15</a:t>
            </a:r>
            <a:endParaRPr dirty="0">
              <a:solidFill>
                <a:srgbClr val="002F9C"/>
              </a:solidFill>
              <a:latin typeface="Arial"/>
              <a:ea typeface="Arial"/>
              <a:cs typeface="Arial"/>
              <a:sym typeface="Arial"/>
            </a:endParaRPr>
          </a:p>
          <a:p>
            <a:pPr marL="342900" indent="-225425">
              <a:spcBef>
                <a:spcPts val="370"/>
              </a:spcBef>
              <a:buClr>
                <a:schemeClr val="dk1"/>
              </a:buClr>
              <a:buSzPct val="100000"/>
              <a:buNone/>
            </a:pPr>
            <a:endParaRPr sz="2000" dirty="0"/>
          </a:p>
        </p:txBody>
      </p:sp>
      <p:pic>
        <p:nvPicPr>
          <p:cNvPr id="196" name="Google Shape;196;p28" descr="21fig01"/>
          <p:cNvPicPr preferRelativeResize="0"/>
          <p:nvPr/>
        </p:nvPicPr>
        <p:blipFill rotWithShape="1">
          <a:blip r:embed="rId3">
            <a:alphaModFix/>
          </a:blip>
          <a:srcRect/>
          <a:stretch/>
        </p:blipFill>
        <p:spPr>
          <a:xfrm>
            <a:off x="7086601" y="3036888"/>
            <a:ext cx="3571875" cy="3803650"/>
          </a:xfrm>
          <a:prstGeom prst="rect">
            <a:avLst/>
          </a:prstGeom>
          <a:noFill/>
          <a:ln>
            <a:noFill/>
          </a:ln>
        </p:spPr>
      </p:pic>
      <p:sp>
        <p:nvSpPr>
          <p:cNvPr id="197" name="Google Shape;197;p28"/>
          <p:cNvSpPr txBox="1"/>
          <p:nvPr/>
        </p:nvSpPr>
        <p:spPr>
          <a:xfrm>
            <a:off x="1828800" y="3986442"/>
            <a:ext cx="5120922" cy="1453347"/>
          </a:xfrm>
          <a:prstGeom prst="rect">
            <a:avLst/>
          </a:prstGeom>
          <a:noFill/>
          <a:ln>
            <a:noFill/>
          </a:ln>
        </p:spPr>
        <p:txBody>
          <a:bodyPr spcFirstLastPara="1" wrap="square" lIns="91425" tIns="45700" rIns="91425" bIns="45700" anchor="t" anchorCtr="0">
            <a:spAutoFit/>
          </a:bodyPr>
          <a:lstStyle/>
          <a:p>
            <a:pPr marL="342900" indent="-342900">
              <a:lnSpc>
                <a:spcPct val="80000"/>
              </a:lnSpc>
              <a:buClr>
                <a:schemeClr val="dk1"/>
              </a:buClr>
              <a:buSzPts val="2200"/>
              <a:buFont typeface="Arial"/>
              <a:buChar char="•"/>
            </a:pPr>
            <a:r>
              <a:rPr lang="en-US" sz="2200" dirty="0">
                <a:solidFill>
                  <a:schemeClr val="dk1"/>
                </a:solidFill>
                <a:latin typeface="Calibri"/>
                <a:ea typeface="Calibri"/>
                <a:cs typeface="Calibri"/>
                <a:sym typeface="Calibri"/>
              </a:rPr>
              <a:t>The United States uses the Fahrenheit system; in other parts of the world, Celsius is used. Almost all scientists measure temperature using the Celsius scale.</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1"/>
          <p:cNvSpPr txBox="1">
            <a:spLocks noGrp="1"/>
          </p:cNvSpPr>
          <p:nvPr>
            <p:ph type="title"/>
          </p:nvPr>
        </p:nvSpPr>
        <p:spPr>
          <a:xfrm>
            <a:off x="1905000" y="228600"/>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Pressure</a:t>
            </a:r>
            <a:endParaRPr/>
          </a:p>
        </p:txBody>
      </p:sp>
      <p:sp>
        <p:nvSpPr>
          <p:cNvPr id="223" name="Google Shape;223;p31"/>
          <p:cNvSpPr txBox="1"/>
          <p:nvPr/>
        </p:nvSpPr>
        <p:spPr>
          <a:xfrm>
            <a:off x="2057400" y="1369828"/>
            <a:ext cx="8077200" cy="4832092"/>
          </a:xfrm>
          <a:prstGeom prst="rect">
            <a:avLst/>
          </a:prstGeom>
          <a:noFill/>
          <a:ln>
            <a:noFill/>
          </a:ln>
        </p:spPr>
        <p:txBody>
          <a:bodyPr spcFirstLastPara="1" wrap="square" lIns="91425" tIns="45700" rIns="91425" bIns="45700" anchor="t" anchorCtr="0">
            <a:spAutoFit/>
          </a:bodyPr>
          <a:lstStyle/>
          <a:p>
            <a:r>
              <a:rPr lang="en-US" sz="2800" dirty="0">
                <a:solidFill>
                  <a:srgbClr val="000000"/>
                </a:solidFill>
                <a:ea typeface="Geo"/>
                <a:cs typeface="Geo"/>
                <a:sym typeface="Geo"/>
              </a:rPr>
              <a:t>Atmospheric pressure is the weight of the atmosphere overhead. </a:t>
            </a:r>
            <a:endParaRPr dirty="0"/>
          </a:p>
          <a:p>
            <a:endParaRPr sz="2800" dirty="0">
              <a:solidFill>
                <a:srgbClr val="000000"/>
              </a:solidFill>
              <a:ea typeface="Geo"/>
              <a:cs typeface="Geo"/>
              <a:sym typeface="Geo"/>
            </a:endParaRPr>
          </a:p>
          <a:p>
            <a:r>
              <a:rPr lang="en-US" sz="2800" dirty="0">
                <a:solidFill>
                  <a:srgbClr val="000000"/>
                </a:solidFill>
                <a:ea typeface="Geo"/>
                <a:cs typeface="Geo"/>
                <a:sym typeface="Geo"/>
              </a:rPr>
              <a:t>Changes in atmospheric pressure signal shifts in the weather. </a:t>
            </a:r>
            <a:endParaRPr dirty="0"/>
          </a:p>
          <a:p>
            <a:endParaRPr sz="2800" dirty="0">
              <a:solidFill>
                <a:srgbClr val="000000"/>
              </a:solidFill>
              <a:ea typeface="Geo"/>
              <a:cs typeface="Geo"/>
              <a:sym typeface="Geo"/>
            </a:endParaRPr>
          </a:p>
          <a:p>
            <a:r>
              <a:rPr lang="en-US" sz="2800" dirty="0">
                <a:solidFill>
                  <a:srgbClr val="000000"/>
                </a:solidFill>
                <a:ea typeface="Geo"/>
                <a:cs typeface="Geo"/>
                <a:sym typeface="Geo"/>
              </a:rPr>
              <a:t>A high-pressure system usually brings cool temperatures and clear skies. </a:t>
            </a:r>
            <a:endParaRPr dirty="0"/>
          </a:p>
          <a:p>
            <a:endParaRPr sz="2800" dirty="0">
              <a:solidFill>
                <a:srgbClr val="000000"/>
              </a:solidFill>
              <a:ea typeface="Geo"/>
              <a:cs typeface="Geo"/>
              <a:sym typeface="Geo"/>
            </a:endParaRPr>
          </a:p>
          <a:p>
            <a:r>
              <a:rPr lang="en-US" sz="2800" dirty="0">
                <a:solidFill>
                  <a:srgbClr val="000000"/>
                </a:solidFill>
                <a:ea typeface="Geo"/>
                <a:cs typeface="Geo"/>
                <a:sym typeface="Geo"/>
              </a:rPr>
              <a:t>A low-pressure system can bring warmer weather, storms, and rain.</a:t>
            </a:r>
            <a:endParaRPr sz="2800" dirty="0">
              <a:solidFill>
                <a:schemeClr val="dk1"/>
              </a:solidFill>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txBox="1">
            <a:spLocks noGrp="1"/>
          </p:cNvSpPr>
          <p:nvPr>
            <p:ph type="title"/>
          </p:nvPr>
        </p:nvSpPr>
        <p:spPr>
          <a:xfrm>
            <a:off x="2717801" y="0"/>
            <a:ext cx="7142163"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000000"/>
              </a:buClr>
              <a:buSzPct val="100000"/>
            </a:pPr>
            <a:r>
              <a:rPr lang="en-US" i="0">
                <a:solidFill>
                  <a:srgbClr val="000000"/>
                </a:solidFill>
              </a:rPr>
              <a:t>What is atmospheric pressure?</a:t>
            </a:r>
            <a:endParaRPr/>
          </a:p>
        </p:txBody>
      </p:sp>
      <p:sp>
        <p:nvSpPr>
          <p:cNvPr id="230" name="Google Shape;230;p32"/>
          <p:cNvSpPr txBox="1">
            <a:spLocks noGrp="1"/>
          </p:cNvSpPr>
          <p:nvPr>
            <p:ph type="body" idx="1"/>
          </p:nvPr>
        </p:nvSpPr>
        <p:spPr>
          <a:xfrm>
            <a:off x="1981201" y="1219200"/>
            <a:ext cx="8226425" cy="4497388"/>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dirty="0"/>
              <a:t>Weight of the overlying air</a:t>
            </a:r>
            <a:endParaRPr dirty="0"/>
          </a:p>
          <a:p>
            <a:pPr marL="342900" indent="-342900">
              <a:spcBef>
                <a:spcPts val="640"/>
              </a:spcBef>
              <a:buClr>
                <a:schemeClr val="dk1"/>
              </a:buClr>
              <a:buSzPts val="3200"/>
            </a:pPr>
            <a:r>
              <a:rPr lang="en-US" dirty="0"/>
              <a:t>Taller the column of air above an object, the greater the air pressure exerted on that object</a:t>
            </a:r>
            <a:endParaRPr dirty="0"/>
          </a:p>
        </p:txBody>
      </p:sp>
      <p:pic>
        <p:nvPicPr>
          <p:cNvPr id="231" name="Google Shape;231;p32" descr="FG03_07"/>
          <p:cNvPicPr preferRelativeResize="0"/>
          <p:nvPr/>
        </p:nvPicPr>
        <p:blipFill rotWithShape="1">
          <a:blip r:embed="rId3">
            <a:alphaModFix/>
          </a:blip>
          <a:srcRect/>
          <a:stretch/>
        </p:blipFill>
        <p:spPr>
          <a:xfrm>
            <a:off x="4419600" y="2971800"/>
            <a:ext cx="5029200" cy="3771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Standard Atmospheric Pressure </a:t>
            </a:r>
            <a:endParaRPr/>
          </a:p>
        </p:txBody>
      </p:sp>
      <p:sp>
        <p:nvSpPr>
          <p:cNvPr id="238" name="Google Shape;238;p33"/>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a:t>1013.25 mb</a:t>
            </a:r>
            <a:endParaRPr/>
          </a:p>
          <a:p>
            <a:pPr marL="342900" indent="-342900">
              <a:spcBef>
                <a:spcPts val="640"/>
              </a:spcBef>
              <a:buClr>
                <a:schemeClr val="dk1"/>
              </a:buClr>
              <a:buSzPts val="3200"/>
            </a:pPr>
            <a:r>
              <a:rPr lang="en-US"/>
              <a:t>1013.25 hPa</a:t>
            </a:r>
            <a:endParaRPr/>
          </a:p>
          <a:p>
            <a:pPr marL="342900" indent="-342900">
              <a:spcBef>
                <a:spcPts val="640"/>
              </a:spcBef>
              <a:buClr>
                <a:schemeClr val="dk1"/>
              </a:buClr>
              <a:buSzPts val="3200"/>
            </a:pPr>
            <a:r>
              <a:rPr lang="en-US"/>
              <a:t>29.92 inches of Hg</a:t>
            </a:r>
            <a:endParaRPr/>
          </a:p>
          <a:p>
            <a:pPr marL="342900" indent="-139700">
              <a:spcBef>
                <a:spcPts val="640"/>
              </a:spcBef>
              <a:buClr>
                <a:schemeClr val="dk1"/>
              </a:buClr>
              <a:buSzPts val="32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4"/>
          <p:cNvSpPr txBox="1">
            <a:spLocks noGrp="1"/>
          </p:cNvSpPr>
          <p:nvPr>
            <p:ph type="title"/>
          </p:nvPr>
        </p:nvSpPr>
        <p:spPr>
          <a:xfrm>
            <a:off x="2754314" y="298451"/>
            <a:ext cx="8226425" cy="411163"/>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rgbClr val="000000"/>
              </a:buClr>
              <a:buSzPct val="100000"/>
            </a:pPr>
            <a:r>
              <a:rPr lang="en-US" sz="4000">
                <a:solidFill>
                  <a:srgbClr val="000000"/>
                </a:solidFill>
              </a:rPr>
              <a:t>Density &amp; Pressure</a:t>
            </a:r>
            <a:endParaRPr/>
          </a:p>
        </p:txBody>
      </p:sp>
      <p:pic>
        <p:nvPicPr>
          <p:cNvPr id="245" name="Google Shape;245;p34" descr="G:\clones\Meterology\custom lectures\jpegs\chapter 01\07.jpg"/>
          <p:cNvPicPr preferRelativeResize="0">
            <a:picLocks noGrp="1"/>
          </p:cNvPicPr>
          <p:nvPr>
            <p:ph type="body" idx="1"/>
          </p:nvPr>
        </p:nvPicPr>
        <p:blipFill rotWithShape="1">
          <a:blip r:embed="rId3">
            <a:alphaModFix/>
          </a:blip>
          <a:srcRect/>
          <a:stretch/>
        </p:blipFill>
        <p:spPr>
          <a:xfrm>
            <a:off x="3200400" y="785814"/>
            <a:ext cx="6248400" cy="59959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WIND</a:t>
            </a:r>
            <a:endParaRPr/>
          </a:p>
        </p:txBody>
      </p:sp>
      <p:sp>
        <p:nvSpPr>
          <p:cNvPr id="251" name="Google Shape;251;p35"/>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rgbClr val="000000"/>
              </a:buClr>
              <a:buSzPts val="3200"/>
            </a:pPr>
            <a:r>
              <a:rPr lang="en-US" b="0" i="0" dirty="0">
                <a:solidFill>
                  <a:srgbClr val="000000"/>
                </a:solidFill>
                <a:latin typeface="+mn-lt"/>
                <a:ea typeface="Geo"/>
                <a:cs typeface="Geo"/>
                <a:sym typeface="Geo"/>
              </a:rPr>
              <a:t>Wind is the movement of air. </a:t>
            </a:r>
            <a:endParaRPr dirty="0">
              <a:latin typeface="+mn-lt"/>
            </a:endParaRPr>
          </a:p>
          <a:p>
            <a:pPr marL="342900" indent="-342900">
              <a:spcBef>
                <a:spcPts val="640"/>
              </a:spcBef>
              <a:buClr>
                <a:srgbClr val="000000"/>
              </a:buClr>
              <a:buSzPts val="3200"/>
            </a:pPr>
            <a:r>
              <a:rPr lang="en-US" b="0" i="0" dirty="0">
                <a:solidFill>
                  <a:srgbClr val="000000"/>
                </a:solidFill>
                <a:latin typeface="+mn-lt"/>
                <a:ea typeface="Geo"/>
                <a:cs typeface="Geo"/>
                <a:sym typeface="Geo"/>
              </a:rPr>
              <a:t>Wind forms because of differences in temperature and atmospheric pressure between nearby regions. </a:t>
            </a:r>
            <a:endParaRPr dirty="0">
              <a:latin typeface="+mn-lt"/>
            </a:endParaRPr>
          </a:p>
          <a:p>
            <a:pPr marL="342900" indent="-342900">
              <a:spcBef>
                <a:spcPts val="640"/>
              </a:spcBef>
              <a:buClr>
                <a:srgbClr val="000000"/>
              </a:buClr>
              <a:buSzPts val="3200"/>
            </a:pPr>
            <a:r>
              <a:rPr lang="en-US" b="0" i="0" dirty="0">
                <a:solidFill>
                  <a:srgbClr val="000000"/>
                </a:solidFill>
                <a:latin typeface="+mn-lt"/>
                <a:ea typeface="Geo"/>
                <a:cs typeface="Geo"/>
                <a:sym typeface="Geo"/>
              </a:rPr>
              <a:t>Winds tend to blow from areas of high pressure, where it’s colder, to areas of low pressure, where it’s warmer.</a:t>
            </a:r>
            <a:endParaRPr dirty="0">
              <a:latin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6"/>
          <p:cNvSpPr txBox="1">
            <a:spLocks noGrp="1"/>
          </p:cNvSpPr>
          <p:nvPr>
            <p:ph type="body" idx="1"/>
          </p:nvPr>
        </p:nvSpPr>
        <p:spPr>
          <a:xfrm>
            <a:off x="1981200" y="762000"/>
            <a:ext cx="8229600" cy="5791200"/>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rgbClr val="000000"/>
              </a:buClr>
              <a:buSzPts val="3200"/>
              <a:buNone/>
            </a:pPr>
            <a:r>
              <a:rPr lang="en-US" b="0" i="0" dirty="0">
                <a:solidFill>
                  <a:srgbClr val="000000"/>
                </a:solidFill>
                <a:latin typeface="+mn-lt"/>
                <a:ea typeface="Geo"/>
                <a:cs typeface="Geo"/>
                <a:sym typeface="Geo"/>
              </a:rPr>
              <a:t>Wind can be influenced by human activity.</a:t>
            </a:r>
            <a:endParaRPr dirty="0">
              <a:latin typeface="+mn-lt"/>
            </a:endParaRPr>
          </a:p>
          <a:p>
            <a:pPr marL="0" indent="0">
              <a:spcBef>
                <a:spcPts val="640"/>
              </a:spcBef>
              <a:buClr>
                <a:schemeClr val="dk1"/>
              </a:buClr>
              <a:buSzPts val="3200"/>
              <a:buNone/>
            </a:pPr>
            <a:endParaRPr b="0" i="0" dirty="0">
              <a:solidFill>
                <a:srgbClr val="000000"/>
              </a:solidFill>
              <a:latin typeface="+mn-lt"/>
              <a:ea typeface="Geo"/>
              <a:cs typeface="Geo"/>
              <a:sym typeface="Geo"/>
            </a:endParaRPr>
          </a:p>
          <a:p>
            <a:pPr marL="0" indent="0">
              <a:spcBef>
                <a:spcPts val="640"/>
              </a:spcBef>
              <a:buClr>
                <a:srgbClr val="000000"/>
              </a:buClr>
              <a:buSzPts val="3200"/>
              <a:buNone/>
            </a:pPr>
            <a:r>
              <a:rPr lang="en-US" b="0" i="0" dirty="0">
                <a:solidFill>
                  <a:srgbClr val="000000"/>
                </a:solidFill>
                <a:latin typeface="+mn-lt"/>
                <a:ea typeface="Geo"/>
                <a:cs typeface="Geo"/>
                <a:sym typeface="Geo"/>
              </a:rPr>
              <a:t> Chicago, Illinois, is nicknamed the “</a:t>
            </a:r>
            <a:r>
              <a:rPr lang="en-US" b="0" i="0" u="none" strike="noStrike" dirty="0">
                <a:solidFill>
                  <a:srgbClr val="000000"/>
                </a:solidFill>
                <a:latin typeface="+mn-lt"/>
                <a:ea typeface="Geo"/>
                <a:cs typeface="Geo"/>
                <a:sym typeface="Geo"/>
              </a:rPr>
              <a:t>Windy City</a:t>
            </a:r>
            <a:r>
              <a:rPr lang="en-US" b="0" i="0" dirty="0">
                <a:solidFill>
                  <a:srgbClr val="000000"/>
                </a:solidFill>
                <a:latin typeface="+mn-lt"/>
                <a:ea typeface="Geo"/>
                <a:cs typeface="Geo"/>
                <a:sym typeface="Geo"/>
              </a:rPr>
              <a:t>.” After the </a:t>
            </a:r>
            <a:r>
              <a:rPr lang="en-US" b="0" i="0" u="none" strike="noStrike" dirty="0">
                <a:solidFill>
                  <a:srgbClr val="000000"/>
                </a:solidFill>
                <a:latin typeface="+mn-lt"/>
                <a:ea typeface="Geo"/>
                <a:cs typeface="Geo"/>
                <a:sym typeface="Geo"/>
              </a:rPr>
              <a:t>Great Chicago Fire</a:t>
            </a:r>
            <a:r>
              <a:rPr lang="en-US" b="0" i="0" dirty="0">
                <a:solidFill>
                  <a:srgbClr val="000000"/>
                </a:solidFill>
                <a:latin typeface="+mn-lt"/>
                <a:ea typeface="Geo"/>
                <a:cs typeface="Geo"/>
                <a:sym typeface="Geo"/>
              </a:rPr>
              <a:t> of 1871 destroyed the city, city planners rebuilt it using a </a:t>
            </a:r>
            <a:r>
              <a:rPr lang="en-US" b="0" i="0" u="none" strike="noStrike" dirty="0">
                <a:solidFill>
                  <a:srgbClr val="000000"/>
                </a:solidFill>
                <a:latin typeface="+mn-lt"/>
                <a:ea typeface="Geo"/>
                <a:cs typeface="Geo"/>
                <a:sym typeface="Geo"/>
              </a:rPr>
              <a:t>grid</a:t>
            </a:r>
            <a:r>
              <a:rPr lang="en-US" b="0" i="0" dirty="0">
                <a:solidFill>
                  <a:srgbClr val="000000"/>
                </a:solidFill>
                <a:latin typeface="+mn-lt"/>
                <a:ea typeface="Geo"/>
                <a:cs typeface="Geo"/>
                <a:sym typeface="Geo"/>
              </a:rPr>
              <a:t> system. </a:t>
            </a:r>
            <a:endParaRPr dirty="0">
              <a:latin typeface="+mn-lt"/>
            </a:endParaRPr>
          </a:p>
          <a:p>
            <a:pPr marL="0" indent="0">
              <a:spcBef>
                <a:spcPts val="640"/>
              </a:spcBef>
              <a:buClr>
                <a:schemeClr val="dk1"/>
              </a:buClr>
              <a:buSzPts val="3200"/>
              <a:buNone/>
            </a:pPr>
            <a:endParaRPr b="0" i="0" dirty="0">
              <a:solidFill>
                <a:srgbClr val="000000"/>
              </a:solidFill>
              <a:latin typeface="+mn-lt"/>
              <a:ea typeface="Geo"/>
              <a:cs typeface="Geo"/>
              <a:sym typeface="Geo"/>
            </a:endParaRPr>
          </a:p>
          <a:p>
            <a:pPr marL="0" indent="0">
              <a:spcBef>
                <a:spcPts val="640"/>
              </a:spcBef>
              <a:buClr>
                <a:srgbClr val="000000"/>
              </a:buClr>
              <a:buSzPts val="3200"/>
              <a:buNone/>
            </a:pPr>
            <a:r>
              <a:rPr lang="en-US" b="0" i="0" dirty="0">
                <a:solidFill>
                  <a:srgbClr val="000000"/>
                </a:solidFill>
                <a:latin typeface="+mn-lt"/>
                <a:ea typeface="Geo"/>
                <a:cs typeface="Geo"/>
                <a:sym typeface="Geo"/>
              </a:rPr>
              <a:t>This created wind tunnels. Winds are forced into narrow channels, picking up speed and strength. The Windy City is a result of natural and manmade winds.</a:t>
            </a:r>
            <a:br>
              <a:rPr lang="en-US" dirty="0">
                <a:latin typeface="+mn-lt"/>
              </a:rPr>
            </a:br>
            <a:endParaRPr dirty="0">
              <a:latin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Humidity</a:t>
            </a:r>
            <a:endParaRPr/>
          </a:p>
        </p:txBody>
      </p:sp>
      <p:sp>
        <p:nvSpPr>
          <p:cNvPr id="262" name="Google Shape;262;p37"/>
          <p:cNvSpPr txBox="1">
            <a:spLocks noGrp="1"/>
          </p:cNvSpPr>
          <p:nvPr>
            <p:ph type="body" idx="1"/>
          </p:nvPr>
        </p:nvSpPr>
        <p:spPr>
          <a:xfrm>
            <a:off x="1990060" y="1399918"/>
            <a:ext cx="8229600" cy="5183445"/>
          </a:xfrm>
          <a:prstGeom prst="rect">
            <a:avLst/>
          </a:prstGeom>
          <a:noFill/>
          <a:ln>
            <a:noFill/>
          </a:ln>
        </p:spPr>
        <p:txBody>
          <a:bodyPr spcFirstLastPara="1" vert="horz" wrap="square" lIns="91425" tIns="45700" rIns="91425" bIns="45700" rtlCol="0" anchor="t" anchorCtr="0">
            <a:normAutofit/>
          </a:bodyPr>
          <a:lstStyle/>
          <a:p>
            <a:pPr marL="0" indent="0" algn="just">
              <a:spcBef>
                <a:spcPts val="0"/>
              </a:spcBef>
              <a:buClr>
                <a:srgbClr val="000000"/>
              </a:buClr>
              <a:buSzPct val="100000"/>
              <a:buNone/>
            </a:pPr>
            <a:r>
              <a:rPr lang="en-US" b="0" i="0" dirty="0">
                <a:solidFill>
                  <a:srgbClr val="000000"/>
                </a:solidFill>
                <a:latin typeface="+mn-lt"/>
                <a:ea typeface="Geo"/>
                <a:cs typeface="Geo"/>
                <a:sym typeface="Geo"/>
              </a:rPr>
              <a:t>Humidity refers to the amount of water </a:t>
            </a:r>
            <a:r>
              <a:rPr lang="en-US" b="0" i="0" u="none" strike="noStrike" dirty="0">
                <a:solidFill>
                  <a:srgbClr val="000000"/>
                </a:solidFill>
                <a:latin typeface="+mn-lt"/>
                <a:ea typeface="Geo"/>
                <a:cs typeface="Geo"/>
                <a:sym typeface="Geo"/>
              </a:rPr>
              <a:t>vapor</a:t>
            </a:r>
            <a:r>
              <a:rPr lang="en-US" b="0" i="0" dirty="0">
                <a:solidFill>
                  <a:srgbClr val="000000"/>
                </a:solidFill>
                <a:latin typeface="+mn-lt"/>
                <a:ea typeface="Geo"/>
                <a:cs typeface="Geo"/>
                <a:sym typeface="Geo"/>
              </a:rPr>
              <a:t> in the air.</a:t>
            </a:r>
            <a:endParaRPr dirty="0">
              <a:latin typeface="+mn-lt"/>
            </a:endParaRPr>
          </a:p>
          <a:p>
            <a:pPr marL="0" indent="0" algn="just">
              <a:spcBef>
                <a:spcPts val="592"/>
              </a:spcBef>
              <a:buClr>
                <a:srgbClr val="000000"/>
              </a:buClr>
              <a:buSzPct val="100000"/>
              <a:buNone/>
            </a:pPr>
            <a:r>
              <a:rPr lang="en-US" b="0" i="0" dirty="0">
                <a:solidFill>
                  <a:srgbClr val="000000"/>
                </a:solidFill>
                <a:latin typeface="+mn-lt"/>
                <a:ea typeface="Geo"/>
                <a:cs typeface="Geo"/>
                <a:sym typeface="Geo"/>
              </a:rPr>
              <a:t>Water vapor is a gas in the atmosphere that helps make clouds, rain, or snow. </a:t>
            </a:r>
            <a:endParaRPr dirty="0">
              <a:latin typeface="+mn-lt"/>
            </a:endParaRPr>
          </a:p>
          <a:p>
            <a:pPr marL="0" indent="0" algn="just">
              <a:spcBef>
                <a:spcPts val="592"/>
              </a:spcBef>
              <a:buClr>
                <a:srgbClr val="000000"/>
              </a:buClr>
              <a:buSzPct val="100000"/>
              <a:buNone/>
            </a:pPr>
            <a:r>
              <a:rPr lang="en-US" b="0" i="0" dirty="0">
                <a:solidFill>
                  <a:srgbClr val="000000"/>
                </a:solidFill>
                <a:latin typeface="+mn-lt"/>
                <a:ea typeface="Geo"/>
                <a:cs typeface="Geo"/>
                <a:sym typeface="Geo"/>
              </a:rPr>
              <a:t>Humidity is usually expressed as </a:t>
            </a:r>
            <a:r>
              <a:rPr lang="en-US" b="0" i="0" u="none" strike="noStrike" dirty="0">
                <a:solidFill>
                  <a:srgbClr val="000000"/>
                </a:solidFill>
                <a:latin typeface="+mn-lt"/>
                <a:ea typeface="Geo"/>
                <a:cs typeface="Geo"/>
                <a:sym typeface="Geo"/>
              </a:rPr>
              <a:t>relative humidity</a:t>
            </a:r>
            <a:r>
              <a:rPr lang="en-US" b="0" i="0" dirty="0">
                <a:solidFill>
                  <a:srgbClr val="000000"/>
                </a:solidFill>
                <a:latin typeface="+mn-lt"/>
                <a:ea typeface="Geo"/>
                <a:cs typeface="Geo"/>
                <a:sym typeface="Geo"/>
              </a:rPr>
              <a:t>, </a:t>
            </a:r>
            <a:r>
              <a:rPr lang="en-US" b="0" i="0" dirty="0">
                <a:solidFill>
                  <a:srgbClr val="202122"/>
                </a:solidFill>
                <a:latin typeface="+mn-lt"/>
                <a:ea typeface="Arial"/>
                <a:cs typeface="Arial"/>
                <a:sym typeface="Arial"/>
              </a:rPr>
              <a:t>expressed as a percentage, indicates a present state of absolute humidity relative to a maximum humidity given the same temperature.</a:t>
            </a:r>
            <a:endParaRPr dirty="0">
              <a:latin typeface="+mn-lt"/>
            </a:endParaRPr>
          </a:p>
          <a:p>
            <a:pPr marL="0" indent="0" algn="just">
              <a:spcBef>
                <a:spcPts val="592"/>
              </a:spcBef>
              <a:buClr>
                <a:srgbClr val="202122"/>
              </a:buClr>
              <a:buSzPct val="100000"/>
              <a:buNone/>
            </a:pPr>
            <a:r>
              <a:rPr lang="en-US" sz="3100" dirty="0">
                <a:solidFill>
                  <a:srgbClr val="202122"/>
                </a:solidFill>
                <a:ea typeface="Arial"/>
                <a:cs typeface="Arial"/>
                <a:sym typeface="Arial"/>
              </a:rPr>
              <a:t>Absolute humidity </a:t>
            </a:r>
            <a:r>
              <a:rPr lang="en-US" b="0" i="0" dirty="0">
                <a:solidFill>
                  <a:srgbClr val="202122"/>
                </a:solidFill>
                <a:latin typeface="+mn-lt"/>
                <a:ea typeface="Arial"/>
                <a:cs typeface="Arial"/>
                <a:sym typeface="Arial"/>
              </a:rPr>
              <a:t>describes the water content of air and is expressed in either grams per cubic </a:t>
            </a:r>
            <a:r>
              <a:rPr lang="en-US" b="0" i="0" dirty="0" err="1">
                <a:solidFill>
                  <a:srgbClr val="202122"/>
                </a:solidFill>
                <a:latin typeface="+mn-lt"/>
                <a:ea typeface="Arial"/>
                <a:cs typeface="Arial"/>
                <a:sym typeface="Arial"/>
              </a:rPr>
              <a:t>metre</a:t>
            </a:r>
            <a:r>
              <a:rPr lang="en-US" baseline="30000" dirty="0">
                <a:solidFill>
                  <a:srgbClr val="0B0080"/>
                </a:solidFill>
                <a:latin typeface="+mn-lt"/>
                <a:ea typeface="Arial"/>
                <a:cs typeface="Arial"/>
                <a:sym typeface="Arial"/>
              </a:rPr>
              <a:t> </a:t>
            </a:r>
            <a:r>
              <a:rPr lang="en-US" b="0" i="0" dirty="0">
                <a:solidFill>
                  <a:srgbClr val="202122"/>
                </a:solidFill>
                <a:latin typeface="+mn-lt"/>
                <a:ea typeface="Arial"/>
                <a:cs typeface="Arial"/>
                <a:sym typeface="Arial"/>
              </a:rPr>
              <a:t>or grams per kilogram</a:t>
            </a:r>
            <a:endParaRPr dirty="0">
              <a:solidFill>
                <a:srgbClr val="000000"/>
              </a:solidFill>
              <a:latin typeface="+mn-lt"/>
              <a:ea typeface="Geo"/>
              <a:cs typeface="Geo"/>
              <a:sym typeface="Ge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8"/>
          <p:cNvSpPr txBox="1">
            <a:spLocks noGrp="1"/>
          </p:cNvSpPr>
          <p:nvPr>
            <p:ph type="body" idx="1"/>
          </p:nvPr>
        </p:nvSpPr>
        <p:spPr>
          <a:xfrm>
            <a:off x="782425" y="685800"/>
            <a:ext cx="10048973" cy="5257800"/>
          </a:xfrm>
          <a:prstGeom prst="rect">
            <a:avLst/>
          </a:prstGeom>
          <a:noFill/>
          <a:ln>
            <a:noFill/>
          </a:ln>
        </p:spPr>
        <p:txBody>
          <a:bodyPr spcFirstLastPara="1" vert="horz" wrap="square" lIns="91425" tIns="45700" rIns="91425" bIns="45700" rtlCol="0" anchor="t" anchorCtr="0">
            <a:normAutofit/>
          </a:bodyPr>
          <a:lstStyle/>
          <a:p>
            <a:pPr marL="0" indent="0" algn="just">
              <a:spcBef>
                <a:spcPts val="0"/>
              </a:spcBef>
              <a:buClr>
                <a:srgbClr val="000000"/>
              </a:buClr>
              <a:buSzPts val="3200"/>
              <a:buNone/>
            </a:pPr>
            <a:r>
              <a:rPr lang="en-US" sz="3200" b="0" i="0" dirty="0">
                <a:solidFill>
                  <a:srgbClr val="000000"/>
                </a:solidFill>
                <a:latin typeface="+mn-lt"/>
                <a:ea typeface="Geo"/>
                <a:cs typeface="Geo"/>
                <a:sym typeface="Geo"/>
              </a:rPr>
              <a:t>Cool air holds less water than warm air. </a:t>
            </a:r>
            <a:endParaRPr sz="3200" dirty="0">
              <a:latin typeface="+mn-lt"/>
            </a:endParaRPr>
          </a:p>
          <a:p>
            <a:pPr marL="0" indent="0" algn="just">
              <a:spcBef>
                <a:spcPts val="640"/>
              </a:spcBef>
              <a:buClr>
                <a:srgbClr val="000000"/>
              </a:buClr>
              <a:buSzPts val="3200"/>
              <a:buNone/>
            </a:pPr>
            <a:r>
              <a:rPr lang="en-US" sz="3200" b="0" i="0" dirty="0">
                <a:solidFill>
                  <a:srgbClr val="000000"/>
                </a:solidFill>
                <a:latin typeface="+mn-lt"/>
                <a:ea typeface="Geo"/>
                <a:cs typeface="Geo"/>
                <a:sym typeface="Geo"/>
              </a:rPr>
              <a:t>At a relative humidity of 100 percent, air is said to be </a:t>
            </a:r>
            <a:r>
              <a:rPr lang="en-US" sz="3200" b="0" i="0" u="none" strike="noStrike" dirty="0">
                <a:solidFill>
                  <a:srgbClr val="000000"/>
                </a:solidFill>
                <a:latin typeface="+mn-lt"/>
                <a:ea typeface="Geo"/>
                <a:cs typeface="Geo"/>
                <a:sym typeface="Geo"/>
              </a:rPr>
              <a:t>saturate</a:t>
            </a:r>
            <a:r>
              <a:rPr lang="en-US" sz="3200" b="0" i="0" dirty="0">
                <a:solidFill>
                  <a:srgbClr val="000000"/>
                </a:solidFill>
                <a:latin typeface="+mn-lt"/>
                <a:ea typeface="Geo"/>
                <a:cs typeface="Geo"/>
                <a:sym typeface="Geo"/>
              </a:rPr>
              <a:t>d, meaning the air cannot hold any more water vapor. </a:t>
            </a:r>
            <a:endParaRPr sz="3200" dirty="0">
              <a:latin typeface="+mn-lt"/>
            </a:endParaRPr>
          </a:p>
          <a:p>
            <a:pPr marL="0" indent="0" algn="just">
              <a:spcBef>
                <a:spcPts val="640"/>
              </a:spcBef>
              <a:buClr>
                <a:srgbClr val="000000"/>
              </a:buClr>
              <a:buSzPts val="3200"/>
              <a:buNone/>
            </a:pPr>
            <a:r>
              <a:rPr lang="en-US" sz="3200" b="0" i="0" u="none" strike="noStrike" dirty="0">
                <a:solidFill>
                  <a:srgbClr val="000000"/>
                </a:solidFill>
                <a:latin typeface="+mn-lt"/>
                <a:ea typeface="Geo"/>
                <a:cs typeface="Geo"/>
                <a:sym typeface="Geo"/>
              </a:rPr>
              <a:t>Excess</a:t>
            </a:r>
            <a:r>
              <a:rPr lang="en-US" sz="3200" b="0" i="0" dirty="0">
                <a:solidFill>
                  <a:srgbClr val="000000"/>
                </a:solidFill>
                <a:latin typeface="+mn-lt"/>
                <a:ea typeface="Geo"/>
                <a:cs typeface="Geo"/>
                <a:sym typeface="Geo"/>
              </a:rPr>
              <a:t> water vapor will fall as precipitation.</a:t>
            </a:r>
            <a:endParaRPr sz="3200" dirty="0">
              <a:latin typeface="+mn-lt"/>
            </a:endParaRPr>
          </a:p>
          <a:p>
            <a:pPr marL="0" indent="0" algn="just">
              <a:spcBef>
                <a:spcPts val="640"/>
              </a:spcBef>
              <a:buClr>
                <a:srgbClr val="000000"/>
              </a:buClr>
              <a:buSzPts val="3200"/>
              <a:buNone/>
            </a:pPr>
            <a:r>
              <a:rPr lang="en-US" sz="3200" b="0" i="0" dirty="0">
                <a:solidFill>
                  <a:srgbClr val="000000"/>
                </a:solidFill>
                <a:latin typeface="+mn-lt"/>
                <a:ea typeface="Geo"/>
                <a:cs typeface="Geo"/>
                <a:sym typeface="Geo"/>
              </a:rPr>
              <a:t>precipitation occur when air cools below its </a:t>
            </a:r>
            <a:r>
              <a:rPr lang="en-US" sz="3200" b="0" i="0" u="none" strike="noStrike" dirty="0">
                <a:solidFill>
                  <a:srgbClr val="000000"/>
                </a:solidFill>
                <a:latin typeface="+mn-lt"/>
                <a:ea typeface="Geo"/>
                <a:cs typeface="Geo"/>
                <a:sym typeface="Geo"/>
              </a:rPr>
              <a:t>saturation point</a:t>
            </a:r>
            <a:r>
              <a:rPr lang="en-US" sz="3200" b="0" i="0" dirty="0">
                <a:solidFill>
                  <a:srgbClr val="000000"/>
                </a:solidFill>
                <a:latin typeface="+mn-lt"/>
                <a:ea typeface="Geo"/>
                <a:cs typeface="Geo"/>
                <a:sym typeface="Geo"/>
              </a:rPr>
              <a:t>. </a:t>
            </a:r>
            <a:endParaRPr sz="3200" dirty="0">
              <a:latin typeface="+mn-lt"/>
            </a:endParaRPr>
          </a:p>
          <a:p>
            <a:pPr marL="0" indent="0" algn="just">
              <a:spcBef>
                <a:spcPts val="640"/>
              </a:spcBef>
              <a:buClr>
                <a:srgbClr val="000000"/>
              </a:buClr>
              <a:buSzPts val="3200"/>
              <a:buNone/>
            </a:pPr>
            <a:r>
              <a:rPr lang="en-US" sz="3200" b="0" i="0" dirty="0">
                <a:solidFill>
                  <a:srgbClr val="000000"/>
                </a:solidFill>
                <a:latin typeface="+mn-lt"/>
                <a:ea typeface="Geo"/>
                <a:cs typeface="Geo"/>
                <a:sym typeface="Geo"/>
              </a:rPr>
              <a:t>This usually happens when warm, humid air cools as it rises.</a:t>
            </a:r>
            <a:endParaRPr sz="3200" dirty="0">
              <a:latin typeface="+mn-lt"/>
            </a:endParaRPr>
          </a:p>
          <a:p>
            <a:pPr marL="0" indent="0">
              <a:spcBef>
                <a:spcPts val="640"/>
              </a:spcBef>
              <a:buClr>
                <a:schemeClr val="dk1"/>
              </a:buClr>
              <a:buSzPts val="3200"/>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9"/>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rgbClr val="000000"/>
              </a:buClr>
              <a:buSzPts val="3200"/>
              <a:buNone/>
            </a:pPr>
            <a:r>
              <a:rPr lang="en-US" b="0" i="0" dirty="0">
                <a:solidFill>
                  <a:srgbClr val="000000"/>
                </a:solidFill>
                <a:latin typeface="+mn-lt"/>
                <a:ea typeface="Geo"/>
                <a:cs typeface="Geo"/>
                <a:sym typeface="Geo"/>
              </a:rPr>
              <a:t>The most humid places on Earth are islands near the Equator. </a:t>
            </a:r>
            <a:endParaRPr dirty="0">
              <a:latin typeface="+mn-lt"/>
            </a:endParaRPr>
          </a:p>
          <a:p>
            <a:pPr marL="0" indent="0">
              <a:spcBef>
                <a:spcPts val="640"/>
              </a:spcBef>
              <a:buClr>
                <a:schemeClr val="dk1"/>
              </a:buClr>
              <a:buSzPts val="3200"/>
              <a:buNone/>
            </a:pPr>
            <a:endParaRPr b="0" i="0" dirty="0">
              <a:solidFill>
                <a:srgbClr val="000000"/>
              </a:solidFill>
              <a:latin typeface="+mn-lt"/>
              <a:ea typeface="Geo"/>
              <a:cs typeface="Geo"/>
              <a:sym typeface="Geo"/>
            </a:endParaRPr>
          </a:p>
          <a:p>
            <a:pPr marL="0" indent="0">
              <a:spcBef>
                <a:spcPts val="640"/>
              </a:spcBef>
              <a:buClr>
                <a:srgbClr val="000000"/>
              </a:buClr>
              <a:buSzPts val="3200"/>
              <a:buNone/>
            </a:pPr>
            <a:r>
              <a:rPr lang="en-US" b="0" i="0" dirty="0">
                <a:solidFill>
                  <a:srgbClr val="000000"/>
                </a:solidFill>
                <a:latin typeface="+mn-lt"/>
                <a:ea typeface="Geo"/>
                <a:cs typeface="Geo"/>
                <a:sym typeface="Geo"/>
              </a:rPr>
              <a:t>Singapore, for instance, is humid year-round. The warm air is continually saturated with water from the Indian Ocean.</a:t>
            </a:r>
            <a:endParaRPr dirty="0">
              <a:latin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42" descr="FG03_03"/>
          <p:cNvPicPr preferRelativeResize="0">
            <a:picLocks noGrp="1"/>
          </p:cNvPicPr>
          <p:nvPr>
            <p:ph type="body" idx="1"/>
          </p:nvPr>
        </p:nvPicPr>
        <p:blipFill rotWithShape="1">
          <a:blip r:embed="rId3">
            <a:alphaModFix/>
          </a:blip>
          <a:srcRect/>
          <a:stretch/>
        </p:blipFill>
        <p:spPr>
          <a:xfrm>
            <a:off x="2671764" y="1066800"/>
            <a:ext cx="7424737" cy="5568950"/>
          </a:xfrm>
          <a:prstGeom prst="rect">
            <a:avLst/>
          </a:prstGeom>
          <a:noFill/>
          <a:ln>
            <a:noFill/>
          </a:ln>
        </p:spPr>
      </p:pic>
      <p:sp>
        <p:nvSpPr>
          <p:cNvPr id="290" name="Google Shape;290;p42"/>
          <p:cNvSpPr txBox="1">
            <a:spLocks noGrp="1"/>
          </p:cNvSpPr>
          <p:nvPr>
            <p:ph type="title"/>
          </p:nvPr>
        </p:nvSpPr>
        <p:spPr>
          <a:xfrm>
            <a:off x="2895600" y="0"/>
            <a:ext cx="77724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000"/>
            </a:pPr>
            <a:r>
              <a:rPr lang="en-US" sz="4000">
                <a:solidFill>
                  <a:schemeClr val="dk1"/>
                </a:solidFill>
              </a:rPr>
              <a:t>What makes up the atmosphere?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3"/>
          <p:cNvSpPr txBox="1">
            <a:spLocks noGrp="1"/>
          </p:cNvSpPr>
          <p:nvPr>
            <p:ph type="title"/>
          </p:nvPr>
        </p:nvSpPr>
        <p:spPr>
          <a:xfrm>
            <a:off x="2794000" y="228600"/>
            <a:ext cx="7772400" cy="609600"/>
          </a:xfrm>
          <a:prstGeom prst="rect">
            <a:avLst/>
          </a:prstGeom>
          <a:noFill/>
          <a:ln>
            <a:noFill/>
          </a:ln>
        </p:spPr>
        <p:txBody>
          <a:bodyPr spcFirstLastPara="1" vert="horz" wrap="square" lIns="90000" tIns="46800" rIns="90000" bIns="46800" rtlCol="0" anchor="ctr" anchorCtr="0">
            <a:normAutofit fontScale="90000"/>
          </a:bodyPr>
          <a:lstStyle/>
          <a:p>
            <a:pPr algn="ctr">
              <a:spcBef>
                <a:spcPts val="0"/>
              </a:spcBef>
              <a:buClr>
                <a:srgbClr val="000000"/>
              </a:buClr>
              <a:buSzPct val="100000"/>
            </a:pPr>
            <a:r>
              <a:rPr lang="en-US" i="0" dirty="0">
                <a:solidFill>
                  <a:srgbClr val="000000"/>
                </a:solidFill>
              </a:rPr>
              <a:t>Atmospheric Thickness</a:t>
            </a:r>
            <a:endParaRPr dirty="0"/>
          </a:p>
        </p:txBody>
      </p:sp>
      <p:sp>
        <p:nvSpPr>
          <p:cNvPr id="297" name="Google Shape;297;p43"/>
          <p:cNvSpPr txBox="1">
            <a:spLocks noGrp="1"/>
          </p:cNvSpPr>
          <p:nvPr>
            <p:ph type="body" idx="1"/>
          </p:nvPr>
        </p:nvSpPr>
        <p:spPr>
          <a:xfrm>
            <a:off x="2209800" y="1752600"/>
            <a:ext cx="7772400" cy="4114800"/>
          </a:xfrm>
          <a:prstGeom prst="rect">
            <a:avLst/>
          </a:prstGeom>
          <a:noFill/>
          <a:ln>
            <a:noFill/>
          </a:ln>
        </p:spPr>
        <p:txBody>
          <a:bodyPr spcFirstLastPara="1" vert="horz" wrap="square" lIns="90000" tIns="46800" rIns="90000" bIns="46800" rtlCol="0" anchor="t" anchorCtr="0">
            <a:normAutofit/>
          </a:bodyPr>
          <a:lstStyle/>
          <a:p>
            <a:pPr marL="341313" indent="-341313">
              <a:spcBef>
                <a:spcPts val="0"/>
              </a:spcBef>
              <a:buClr>
                <a:schemeClr val="dk1"/>
              </a:buClr>
              <a:buSzPts val="2800"/>
            </a:pPr>
            <a:r>
              <a:rPr lang="en-US" dirty="0"/>
              <a:t>No defined top to the atmosphere</a:t>
            </a:r>
            <a:endParaRPr dirty="0"/>
          </a:p>
          <a:p>
            <a:pPr marL="341313" indent="-341313">
              <a:spcBef>
                <a:spcPts val="700"/>
              </a:spcBef>
              <a:buClr>
                <a:schemeClr val="dk1"/>
              </a:buClr>
              <a:buSzPts val="2800"/>
            </a:pPr>
            <a:r>
              <a:rPr lang="en-US" dirty="0"/>
              <a:t>The atmosphere is very shallow—and is less than 2% of the Earth’s thickness</a:t>
            </a:r>
            <a:endParaRPr dirty="0">
              <a:solidFill>
                <a:schemeClr val="lt1"/>
              </a:solidFill>
            </a:endParaRPr>
          </a:p>
          <a:p>
            <a:pPr marL="341313" indent="-341313">
              <a:spcBef>
                <a:spcPts val="700"/>
              </a:spcBef>
              <a:buClr>
                <a:schemeClr val="dk1"/>
              </a:buClr>
              <a:buSzPts val="2800"/>
              <a:buNone/>
            </a:pPr>
            <a:endParaRPr dirty="0"/>
          </a:p>
        </p:txBody>
      </p:sp>
      <p:pic>
        <p:nvPicPr>
          <p:cNvPr id="298" name="Google Shape;298;p43"/>
          <p:cNvPicPr preferRelativeResize="0"/>
          <p:nvPr/>
        </p:nvPicPr>
        <p:blipFill rotWithShape="1">
          <a:blip r:embed="rId3">
            <a:alphaModFix/>
          </a:blip>
          <a:srcRect t="17998" b="19199"/>
          <a:stretch/>
        </p:blipFill>
        <p:spPr>
          <a:xfrm>
            <a:off x="1981200" y="3733801"/>
            <a:ext cx="5943600" cy="2798763"/>
          </a:xfrm>
          <a:prstGeom prst="rect">
            <a:avLst/>
          </a:prstGeom>
          <a:noFill/>
          <a:ln>
            <a:noFill/>
          </a:ln>
        </p:spPr>
      </p:pic>
      <p:sp>
        <p:nvSpPr>
          <p:cNvPr id="299" name="Google Shape;299;p43"/>
          <p:cNvSpPr/>
          <p:nvPr/>
        </p:nvSpPr>
        <p:spPr>
          <a:xfrm>
            <a:off x="8077200" y="3810001"/>
            <a:ext cx="2401888" cy="1920875"/>
          </a:xfrm>
          <a:prstGeom prst="roundRect">
            <a:avLst>
              <a:gd name="adj" fmla="val 79"/>
            </a:avLst>
          </a:prstGeom>
          <a:noFill/>
          <a:ln>
            <a:noFill/>
          </a:ln>
        </p:spPr>
        <p:txBody>
          <a:bodyPr spcFirstLastPara="1" wrap="square" lIns="90000" tIns="46800" rIns="90000" bIns="46800" anchor="t" anchorCtr="0">
            <a:noAutofit/>
          </a:bodyPr>
          <a:lstStyle/>
          <a:p>
            <a:pPr>
              <a:buClr>
                <a:srgbClr val="CCFFFF"/>
              </a:buClr>
              <a:buSzPts val="2400"/>
            </a:pPr>
            <a:r>
              <a:rPr lang="en-US" sz="2400" dirty="0">
                <a:solidFill>
                  <a:schemeClr val="dk1"/>
                </a:solidFill>
                <a:latin typeface="Times New Roman"/>
                <a:ea typeface="Times New Roman"/>
                <a:cs typeface="Times New Roman"/>
                <a:sym typeface="Times New Roman"/>
              </a:rPr>
              <a:t>Over 90% of</a:t>
            </a:r>
            <a:endParaRPr dirty="0"/>
          </a:p>
          <a:p>
            <a:pPr>
              <a:buClr>
                <a:srgbClr val="CCFFFF"/>
              </a:buClr>
              <a:buSzPts val="2400"/>
            </a:pPr>
            <a:r>
              <a:rPr lang="en-US" sz="2400" dirty="0">
                <a:solidFill>
                  <a:schemeClr val="dk1"/>
                </a:solidFill>
                <a:latin typeface="Times New Roman"/>
                <a:ea typeface="Times New Roman"/>
                <a:cs typeface="Times New Roman"/>
                <a:sym typeface="Times New Roman"/>
              </a:rPr>
              <a:t>atmosphere in</a:t>
            </a:r>
            <a:endParaRPr dirty="0"/>
          </a:p>
          <a:p>
            <a:pPr>
              <a:buClr>
                <a:srgbClr val="CCFFFF"/>
              </a:buClr>
              <a:buSzPts val="2400"/>
            </a:pPr>
            <a:r>
              <a:rPr lang="en-US" sz="2400" dirty="0">
                <a:solidFill>
                  <a:schemeClr val="dk1"/>
                </a:solidFill>
                <a:latin typeface="Times New Roman"/>
                <a:ea typeface="Times New Roman"/>
                <a:cs typeface="Times New Roman"/>
                <a:sym typeface="Times New Roman"/>
              </a:rPr>
              <a:t>the lowest 16km</a:t>
            </a:r>
            <a:endParaRPr dirty="0"/>
          </a:p>
          <a:p>
            <a:pPr>
              <a:buClr>
                <a:srgbClr val="CCFFFF"/>
              </a:buClr>
              <a:buSzPts val="2400"/>
            </a:pPr>
            <a:r>
              <a:rPr lang="en-US" sz="2400" dirty="0">
                <a:solidFill>
                  <a:schemeClr val="dk1"/>
                </a:solidFill>
                <a:latin typeface="Times New Roman"/>
                <a:ea typeface="Times New Roman"/>
                <a:cs typeface="Times New Roman"/>
                <a:sym typeface="Times New Roman"/>
              </a:rPr>
              <a:t>&amp; is where nearly</a:t>
            </a:r>
            <a:endParaRPr dirty="0"/>
          </a:p>
          <a:p>
            <a:pPr>
              <a:buClr>
                <a:srgbClr val="CCFFFF"/>
              </a:buClr>
              <a:buSzPts val="2400"/>
            </a:pPr>
            <a:r>
              <a:rPr lang="en-US" sz="2400" dirty="0">
                <a:solidFill>
                  <a:schemeClr val="dk1"/>
                </a:solidFill>
                <a:latin typeface="Times New Roman"/>
                <a:ea typeface="Times New Roman"/>
                <a:cs typeface="Times New Roman"/>
                <a:sym typeface="Times New Roman"/>
              </a:rPr>
              <a:t>all weather occurs</a:t>
            </a:r>
            <a:endParaRPr dirty="0"/>
          </a:p>
        </p:txBody>
      </p:sp>
      <p:cxnSp>
        <p:nvCxnSpPr>
          <p:cNvPr id="300" name="Google Shape;300;p43"/>
          <p:cNvCxnSpPr/>
          <p:nvPr/>
        </p:nvCxnSpPr>
        <p:spPr>
          <a:xfrm rot="10800000" flipH="1">
            <a:off x="6324600" y="4570414"/>
            <a:ext cx="1752600" cy="155575"/>
          </a:xfrm>
          <a:prstGeom prst="straightConnector1">
            <a:avLst/>
          </a:prstGeom>
          <a:noFill/>
          <a:ln w="15825" cap="flat" cmpd="sng">
            <a:solidFill>
              <a:srgbClr val="CCFFFF"/>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4"/>
          <p:cNvSpPr txBox="1">
            <a:spLocks noGrp="1"/>
          </p:cNvSpPr>
          <p:nvPr>
            <p:ph type="title"/>
          </p:nvPr>
        </p:nvSpPr>
        <p:spPr>
          <a:xfrm>
            <a:off x="2603500" y="-127000"/>
            <a:ext cx="8229600" cy="13843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i="0">
                <a:solidFill>
                  <a:schemeClr val="dk1"/>
                </a:solidFill>
              </a:rPr>
              <a:t>The Layers of the Atmosphere</a:t>
            </a:r>
            <a:endParaRPr/>
          </a:p>
        </p:txBody>
      </p:sp>
      <p:sp>
        <p:nvSpPr>
          <p:cNvPr id="307" name="Google Shape;307;p44"/>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139700">
              <a:spcBef>
                <a:spcPts val="0"/>
              </a:spcBef>
              <a:buClr>
                <a:schemeClr val="dk1"/>
              </a:buClr>
              <a:buSzPts val="3200"/>
              <a:buNone/>
            </a:pPr>
            <a:endParaRPr/>
          </a:p>
        </p:txBody>
      </p:sp>
      <p:pic>
        <p:nvPicPr>
          <p:cNvPr id="308" name="Google Shape;308;p44" descr="atmosphere"/>
          <p:cNvPicPr preferRelativeResize="0"/>
          <p:nvPr/>
        </p:nvPicPr>
        <p:blipFill rotWithShape="1">
          <a:blip r:embed="rId3">
            <a:alphaModFix/>
          </a:blip>
          <a:srcRect/>
          <a:stretch/>
        </p:blipFill>
        <p:spPr>
          <a:xfrm>
            <a:off x="1905000" y="1174750"/>
            <a:ext cx="8458200" cy="5530850"/>
          </a:xfrm>
          <a:prstGeom prst="rect">
            <a:avLst/>
          </a:prstGeom>
          <a:noFill/>
          <a:ln>
            <a:noFill/>
          </a:ln>
        </p:spPr>
      </p:pic>
      <p:sp>
        <p:nvSpPr>
          <p:cNvPr id="309" name="Google Shape;309;p44"/>
          <p:cNvSpPr txBox="1"/>
          <p:nvPr/>
        </p:nvSpPr>
        <p:spPr>
          <a:xfrm>
            <a:off x="4572000" y="1752601"/>
            <a:ext cx="2514600" cy="366713"/>
          </a:xfrm>
          <a:prstGeom prst="rect">
            <a:avLst/>
          </a:prstGeom>
          <a:solidFill>
            <a:srgbClr val="000080"/>
          </a:solid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Thermosphere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5"/>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26</a:t>
            </a:fld>
            <a:endParaRPr/>
          </a:p>
        </p:txBody>
      </p:sp>
      <p:pic>
        <p:nvPicPr>
          <p:cNvPr id="315" name="Google Shape;315;p45"/>
          <p:cNvPicPr preferRelativeResize="0"/>
          <p:nvPr/>
        </p:nvPicPr>
        <p:blipFill rotWithShape="1">
          <a:blip r:embed="rId3">
            <a:alphaModFix/>
          </a:blip>
          <a:srcRect l="1786" t="35556"/>
          <a:stretch/>
        </p:blipFill>
        <p:spPr>
          <a:xfrm>
            <a:off x="2057400" y="2438400"/>
            <a:ext cx="8382000" cy="3452814"/>
          </a:xfrm>
          <a:prstGeom prst="rect">
            <a:avLst/>
          </a:prstGeom>
          <a:noFill/>
          <a:ln>
            <a:noFill/>
          </a:ln>
        </p:spPr>
      </p:pic>
      <p:pic>
        <p:nvPicPr>
          <p:cNvPr id="316" name="Google Shape;316;p45"/>
          <p:cNvPicPr preferRelativeResize="0"/>
          <p:nvPr/>
        </p:nvPicPr>
        <p:blipFill rotWithShape="1">
          <a:blip r:embed="rId3">
            <a:alphaModFix/>
          </a:blip>
          <a:srcRect b="77632"/>
          <a:stretch/>
        </p:blipFill>
        <p:spPr>
          <a:xfrm>
            <a:off x="1752600" y="381000"/>
            <a:ext cx="8915400" cy="1295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endParaRPr/>
          </a:p>
        </p:txBody>
      </p:sp>
      <p:sp>
        <p:nvSpPr>
          <p:cNvPr id="322" name="Google Shape;322;p46"/>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139700">
              <a:spcBef>
                <a:spcPts val="0"/>
              </a:spcBef>
              <a:buClr>
                <a:schemeClr val="dk1"/>
              </a:buClr>
              <a:buSzPts val="3200"/>
              <a:buNone/>
            </a:pPr>
            <a:endParaRPr/>
          </a:p>
        </p:txBody>
      </p:sp>
      <p:pic>
        <p:nvPicPr>
          <p:cNvPr id="323" name="Google Shape;323;p46" descr="Car-Greenhouse2"/>
          <p:cNvPicPr preferRelativeResize="0"/>
          <p:nvPr/>
        </p:nvPicPr>
        <p:blipFill rotWithShape="1">
          <a:blip r:embed="rId3">
            <a:alphaModFix/>
          </a:blip>
          <a:srcRect/>
          <a:stretch/>
        </p:blipFill>
        <p:spPr>
          <a:xfrm>
            <a:off x="1752600" y="0"/>
            <a:ext cx="8686800" cy="688498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7"/>
          <p:cNvSpPr txBox="1">
            <a:spLocks noGrp="1"/>
          </p:cNvSpPr>
          <p:nvPr>
            <p:ph type="title"/>
          </p:nvPr>
        </p:nvSpPr>
        <p:spPr>
          <a:xfrm>
            <a:off x="1981200" y="175511"/>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0070C0"/>
              </a:buClr>
              <a:buSzPts val="4400"/>
            </a:pPr>
            <a:r>
              <a:rPr lang="en-US">
                <a:solidFill>
                  <a:srgbClr val="0070C0"/>
                </a:solidFill>
              </a:rPr>
              <a:t>Greenhouse gases</a:t>
            </a:r>
            <a:endParaRPr/>
          </a:p>
        </p:txBody>
      </p:sp>
      <p:sp>
        <p:nvSpPr>
          <p:cNvPr id="329" name="Google Shape;329;p47"/>
          <p:cNvSpPr txBox="1">
            <a:spLocks noGrp="1"/>
          </p:cNvSpPr>
          <p:nvPr>
            <p:ph type="body" idx="1"/>
          </p:nvPr>
        </p:nvSpPr>
        <p:spPr>
          <a:xfrm>
            <a:off x="1701800" y="1323827"/>
            <a:ext cx="8788400" cy="4876800"/>
          </a:xfrm>
          <a:prstGeom prst="rect">
            <a:avLst/>
          </a:prstGeom>
          <a:noFill/>
          <a:ln>
            <a:noFill/>
          </a:ln>
        </p:spPr>
        <p:txBody>
          <a:bodyPr spcFirstLastPara="1" vert="horz" wrap="square" lIns="91425" tIns="45700" rIns="91425" bIns="45700" rtlCol="0" anchor="t" anchorCtr="0">
            <a:normAutofit fontScale="92500" lnSpcReduction="20000"/>
          </a:bodyPr>
          <a:lstStyle/>
          <a:p>
            <a:pPr marL="342900" indent="-342900" algn="just">
              <a:lnSpc>
                <a:spcPct val="100000"/>
              </a:lnSpc>
              <a:spcBef>
                <a:spcPts val="0"/>
              </a:spcBef>
              <a:buClr>
                <a:schemeClr val="dk1"/>
              </a:buClr>
              <a:buSzPct val="100000"/>
            </a:pPr>
            <a:r>
              <a:rPr lang="en-US"/>
              <a:t>Atmospheric gases that absorb the emanating radiation are </a:t>
            </a:r>
            <a:r>
              <a:rPr lang="en-US" b="1"/>
              <a:t>greenhouse gases</a:t>
            </a:r>
            <a:r>
              <a:rPr lang="en-US"/>
              <a:t>.</a:t>
            </a:r>
            <a:endParaRPr/>
          </a:p>
          <a:p>
            <a:pPr marL="342900" indent="-170180" algn="just">
              <a:lnSpc>
                <a:spcPct val="100000"/>
              </a:lnSpc>
              <a:spcBef>
                <a:spcPts val="0"/>
              </a:spcBef>
              <a:buClr>
                <a:schemeClr val="dk1"/>
              </a:buClr>
              <a:buSzPct val="100000"/>
              <a:buNone/>
            </a:pPr>
            <a:endParaRPr/>
          </a:p>
          <a:p>
            <a:pPr marL="342900" indent="-342900" algn="just">
              <a:lnSpc>
                <a:spcPct val="100000"/>
              </a:lnSpc>
              <a:spcBef>
                <a:spcPts val="0"/>
              </a:spcBef>
              <a:buClr>
                <a:schemeClr val="dk1"/>
              </a:buClr>
              <a:buSzPct val="100000"/>
            </a:pPr>
            <a:r>
              <a:rPr lang="en-US"/>
              <a:t>By absorbing and re-emitting this radiation, they warm Earth’s atmosphere and surface, like a greenhouse.</a:t>
            </a:r>
            <a:endParaRPr/>
          </a:p>
          <a:p>
            <a:pPr marL="342900" indent="-170180" algn="just">
              <a:lnSpc>
                <a:spcPct val="100000"/>
              </a:lnSpc>
              <a:spcBef>
                <a:spcPts val="0"/>
              </a:spcBef>
              <a:buClr>
                <a:schemeClr val="dk1"/>
              </a:buClr>
              <a:buSzPct val="100000"/>
              <a:buNone/>
            </a:pPr>
            <a:endParaRPr/>
          </a:p>
          <a:p>
            <a:pPr marL="342900" indent="-342900" algn="just">
              <a:lnSpc>
                <a:spcPct val="100000"/>
              </a:lnSpc>
              <a:spcBef>
                <a:spcPts val="0"/>
              </a:spcBef>
              <a:buClr>
                <a:schemeClr val="dk1"/>
              </a:buClr>
              <a:buSzPct val="100000"/>
            </a:pPr>
            <a:r>
              <a:rPr lang="en-US"/>
              <a:t>This is popularly called the </a:t>
            </a:r>
            <a:r>
              <a:rPr lang="en-US" b="1"/>
              <a:t>greenhouse effect</a:t>
            </a:r>
            <a:r>
              <a:rPr lang="en-US"/>
              <a:t>.</a:t>
            </a:r>
            <a:endParaRPr/>
          </a:p>
          <a:p>
            <a:pPr marL="342900" indent="-170180" algn="just">
              <a:lnSpc>
                <a:spcPct val="100000"/>
              </a:lnSpc>
              <a:spcBef>
                <a:spcPts val="0"/>
              </a:spcBef>
              <a:buClr>
                <a:schemeClr val="dk1"/>
              </a:buClr>
              <a:buSzPct val="100000"/>
              <a:buNone/>
            </a:pPr>
            <a:endParaRPr/>
          </a:p>
          <a:p>
            <a:pPr marL="342900" indent="-342900" algn="just">
              <a:lnSpc>
                <a:spcPct val="100000"/>
              </a:lnSpc>
              <a:spcBef>
                <a:spcPts val="0"/>
              </a:spcBef>
              <a:buClr>
                <a:schemeClr val="dk1"/>
              </a:buClr>
              <a:buSzPct val="100000"/>
            </a:pPr>
            <a:r>
              <a:rPr lang="en-US" i="1"/>
              <a:t>Global warming potential </a:t>
            </a:r>
            <a:r>
              <a:rPr lang="en-US"/>
              <a:t>= the relative ability of one molecule of a given greenhouse gas to contribute to global warming. Global warming potential (GWP) is the heat absorbed by any greenhouse gas in the atmosphere, as a multiple of the heat that would be absorbed by the same mass of carbon dioxide (CO2</a:t>
            </a:r>
            <a:r>
              <a:rPr lang="en-US" b="0" i="0">
                <a:solidFill>
                  <a:srgbClr val="202122"/>
                </a:solidFill>
                <a:latin typeface="Arial"/>
                <a:ea typeface="Arial"/>
                <a:cs typeface="Arial"/>
                <a:sym typeface="Arial"/>
              </a:rPr>
              <a:t>)</a:t>
            </a:r>
            <a:endParaRPr/>
          </a:p>
          <a:p>
            <a:pPr marL="342900" indent="-170180">
              <a:lnSpc>
                <a:spcPct val="100000"/>
              </a:lnSpc>
              <a:spcBef>
                <a:spcPts val="0"/>
              </a:spcBef>
              <a:buClr>
                <a:schemeClr val="dk1"/>
              </a:buClr>
              <a:buSzPct val="100000"/>
              <a:buNone/>
            </a:pPr>
            <a:endParaRPr i="1"/>
          </a:p>
        </p:txBody>
      </p:sp>
      <p:sp>
        <p:nvSpPr>
          <p:cNvPr id="330" name="Google Shape;330;p4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solidFill>
                  <a:srgbClr val="888888"/>
                </a:solidFill>
              </a:rPr>
              <a:pPr/>
              <a:t>28</a:t>
            </a:fld>
            <a:endParaRPr>
              <a:solidFill>
                <a:srgbClr val="88888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p48"/>
          <p:cNvPicPr preferRelativeResize="0"/>
          <p:nvPr/>
        </p:nvPicPr>
        <p:blipFill rotWithShape="1">
          <a:blip r:embed="rId3">
            <a:alphaModFix/>
          </a:blip>
          <a:srcRect/>
          <a:stretch/>
        </p:blipFill>
        <p:spPr>
          <a:xfrm>
            <a:off x="1752601" y="685800"/>
            <a:ext cx="8694915" cy="5600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9"/>
          <p:cNvSpPr txBox="1">
            <a:spLocks noGrp="1"/>
          </p:cNvSpPr>
          <p:nvPr>
            <p:ph type="body" idx="1"/>
          </p:nvPr>
        </p:nvSpPr>
        <p:spPr>
          <a:xfrm>
            <a:off x="1845930" y="304801"/>
            <a:ext cx="8788400" cy="2473325"/>
          </a:xfrm>
          <a:prstGeom prst="rect">
            <a:avLst/>
          </a:prstGeom>
          <a:noFill/>
          <a:ln>
            <a:noFill/>
          </a:ln>
        </p:spPr>
        <p:txBody>
          <a:bodyPr spcFirstLastPara="1" vert="horz" wrap="square" lIns="91425" tIns="45700" rIns="91425" bIns="45700" rtlCol="0" anchor="t" anchorCtr="0">
            <a:normAutofit/>
          </a:bodyPr>
          <a:lstStyle/>
          <a:p>
            <a:pPr marL="533400" indent="-533400">
              <a:lnSpc>
                <a:spcPct val="100000"/>
              </a:lnSpc>
              <a:spcBef>
                <a:spcPts val="0"/>
              </a:spcBef>
              <a:buClr>
                <a:schemeClr val="dk1"/>
              </a:buClr>
              <a:buSzPts val="2600"/>
              <a:buNone/>
            </a:pPr>
            <a:endParaRPr sz="2600"/>
          </a:p>
          <a:p>
            <a:pPr marL="533400" indent="-533400">
              <a:lnSpc>
                <a:spcPct val="100000"/>
              </a:lnSpc>
              <a:spcBef>
                <a:spcPts val="0"/>
              </a:spcBef>
              <a:buClr>
                <a:schemeClr val="dk1"/>
              </a:buClr>
              <a:buSzPts val="2600"/>
            </a:pPr>
            <a:r>
              <a:rPr lang="en-US" sz="2600"/>
              <a:t>   molecule for molecule,</a:t>
            </a:r>
            <a:endParaRPr/>
          </a:p>
          <a:p>
            <a:pPr marL="1447800" lvl="2" indent="-533400">
              <a:lnSpc>
                <a:spcPct val="100000"/>
              </a:lnSpc>
              <a:spcBef>
                <a:spcPts val="0"/>
              </a:spcBef>
              <a:buClr>
                <a:srgbClr val="006600"/>
              </a:buClr>
              <a:buSzPts val="2600"/>
              <a:buFont typeface="Calibri"/>
              <a:buChar char="•"/>
            </a:pPr>
            <a:r>
              <a:rPr lang="en-US" sz="2600"/>
              <a:t>methane traps 23 times the heat of CO</a:t>
            </a:r>
            <a:r>
              <a:rPr lang="en-US" sz="2600" baseline="-25000"/>
              <a:t>2</a:t>
            </a:r>
            <a:r>
              <a:rPr lang="en-US" sz="2600"/>
              <a:t> </a:t>
            </a:r>
            <a:endParaRPr/>
          </a:p>
          <a:p>
            <a:pPr marL="1447800" lvl="2" indent="-533400">
              <a:lnSpc>
                <a:spcPct val="100000"/>
              </a:lnSpc>
              <a:spcBef>
                <a:spcPts val="0"/>
              </a:spcBef>
              <a:buClr>
                <a:srgbClr val="006600"/>
              </a:buClr>
              <a:buSzPts val="2600"/>
              <a:buFont typeface="Calibri"/>
              <a:buChar char="•"/>
            </a:pPr>
            <a:r>
              <a:rPr lang="en-US" sz="2600"/>
              <a:t>nitrous oxide traps 296 times the heat of CO</a:t>
            </a:r>
            <a:r>
              <a:rPr lang="en-US" sz="2600" baseline="-25000"/>
              <a:t>2</a:t>
            </a:r>
            <a:r>
              <a:rPr lang="en-US" sz="2600"/>
              <a:t> </a:t>
            </a:r>
            <a:endParaRPr/>
          </a:p>
          <a:p>
            <a:pPr marL="1447800" lvl="2" indent="-533400">
              <a:lnSpc>
                <a:spcPct val="100000"/>
              </a:lnSpc>
              <a:spcBef>
                <a:spcPts val="0"/>
              </a:spcBef>
              <a:buClr>
                <a:srgbClr val="006600"/>
              </a:buClr>
              <a:buSzPts val="2600"/>
              <a:buFont typeface="Calibri"/>
              <a:buChar char="•"/>
            </a:pPr>
            <a:r>
              <a:rPr lang="en-US" sz="2600"/>
              <a:t>HFC-23 traps 12,000 times the heat of CO</a:t>
            </a:r>
            <a:r>
              <a:rPr lang="en-US" sz="2600" baseline="-25000"/>
              <a:t>2</a:t>
            </a:r>
            <a:endParaRPr/>
          </a:p>
        </p:txBody>
      </p:sp>
      <p:pic>
        <p:nvPicPr>
          <p:cNvPr id="341" name="Google Shape;341;p49" descr="18-Table01_T"/>
          <p:cNvPicPr preferRelativeResize="0"/>
          <p:nvPr/>
        </p:nvPicPr>
        <p:blipFill rotWithShape="1">
          <a:blip r:embed="rId3">
            <a:alphaModFix/>
          </a:blip>
          <a:srcRect b="3502"/>
          <a:stretch/>
        </p:blipFill>
        <p:spPr>
          <a:xfrm>
            <a:off x="3792538" y="2719646"/>
            <a:ext cx="4606925" cy="2990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body" idx="1"/>
          </p:nvPr>
        </p:nvSpPr>
        <p:spPr>
          <a:xfrm>
            <a:off x="1676400" y="762000"/>
            <a:ext cx="8534400" cy="56388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rgbClr val="202122"/>
              </a:buClr>
              <a:buSzPct val="100000"/>
            </a:pPr>
            <a:r>
              <a:rPr lang="en-US" dirty="0">
                <a:solidFill>
                  <a:srgbClr val="202122"/>
                </a:solidFill>
                <a:latin typeface="Arial"/>
                <a:ea typeface="Arial"/>
                <a:cs typeface="Arial"/>
                <a:sym typeface="Arial"/>
              </a:rPr>
              <a:t>Without greenhouse gases, the average temperature of Earth's surface would be about −18 °C (0 °F), rather than the present average of 15 °C (59 °F).</a:t>
            </a:r>
            <a:endParaRPr dirty="0"/>
          </a:p>
          <a:p>
            <a:pPr marL="0" indent="0">
              <a:spcBef>
                <a:spcPts val="592"/>
              </a:spcBef>
              <a:buClr>
                <a:schemeClr val="dk1"/>
              </a:buClr>
              <a:buSzPct val="100000"/>
              <a:buNone/>
            </a:pPr>
            <a:endParaRPr dirty="0">
              <a:solidFill>
                <a:srgbClr val="202122"/>
              </a:solidFill>
              <a:latin typeface="Arial"/>
              <a:ea typeface="Arial"/>
              <a:cs typeface="Arial"/>
              <a:sym typeface="Arial"/>
            </a:endParaRPr>
          </a:p>
          <a:p>
            <a:pPr marL="342900" indent="-342900" algn="just">
              <a:spcBef>
                <a:spcPts val="592"/>
              </a:spcBef>
              <a:buClr>
                <a:srgbClr val="202122"/>
              </a:buClr>
              <a:buSzPct val="100000"/>
            </a:pPr>
            <a:r>
              <a:rPr lang="en-US" dirty="0">
                <a:solidFill>
                  <a:srgbClr val="202122"/>
                </a:solidFill>
                <a:latin typeface="Arial"/>
                <a:ea typeface="Arial"/>
                <a:cs typeface="Arial"/>
                <a:sym typeface="Arial"/>
              </a:rPr>
              <a:t>Human activities since the beginning of the Industrial Revolution (around 1750) have produced a 45% increase in the atmospheric concentration of carbon dioxide, from 280 ppm in 1750 to 415 ppm in 2019. The last time the atmospheric concentration of carbon dioxide was this high was over 3 million years ago</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p51"/>
          <p:cNvPicPr preferRelativeResize="0"/>
          <p:nvPr/>
        </p:nvPicPr>
        <p:blipFill rotWithShape="1">
          <a:blip r:embed="rId3">
            <a:alphaModFix/>
          </a:blip>
          <a:srcRect/>
          <a:stretch/>
        </p:blipFill>
        <p:spPr>
          <a:xfrm>
            <a:off x="2013098" y="2319670"/>
            <a:ext cx="8001000" cy="1371600"/>
          </a:xfrm>
          <a:prstGeom prst="rect">
            <a:avLst/>
          </a:prstGeom>
          <a:noFill/>
          <a:ln>
            <a:noFill/>
          </a:ln>
        </p:spPr>
      </p:pic>
      <p:pic>
        <p:nvPicPr>
          <p:cNvPr id="352" name="Google Shape;352;p51"/>
          <p:cNvPicPr preferRelativeResize="0"/>
          <p:nvPr/>
        </p:nvPicPr>
        <p:blipFill rotWithShape="1">
          <a:blip r:embed="rId4">
            <a:alphaModFix/>
          </a:blip>
          <a:srcRect/>
          <a:stretch/>
        </p:blipFill>
        <p:spPr>
          <a:xfrm>
            <a:off x="1981200" y="2055572"/>
            <a:ext cx="8229600" cy="23042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2"/>
          <p:cNvSpPr txBox="1">
            <a:spLocks noGrp="1"/>
          </p:cNvSpPr>
          <p:nvPr>
            <p:ph type="title"/>
          </p:nvPr>
        </p:nvSpPr>
        <p:spPr>
          <a:xfrm>
            <a:off x="1981200" y="274638"/>
            <a:ext cx="8229600" cy="487362"/>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Carbon dioxide increase</a:t>
            </a:r>
            <a:endParaRPr/>
          </a:p>
        </p:txBody>
      </p:sp>
      <p:sp>
        <p:nvSpPr>
          <p:cNvPr id="358" name="Google Shape;358;p52"/>
          <p:cNvSpPr txBox="1">
            <a:spLocks noGrp="1"/>
          </p:cNvSpPr>
          <p:nvPr>
            <p:ph type="body" idx="1"/>
          </p:nvPr>
        </p:nvSpPr>
        <p:spPr>
          <a:xfrm>
            <a:off x="1701800" y="4267201"/>
            <a:ext cx="8788400" cy="2227263"/>
          </a:xfrm>
          <a:prstGeom prst="rect">
            <a:avLst/>
          </a:prstGeom>
          <a:noFill/>
          <a:ln>
            <a:noFill/>
          </a:ln>
        </p:spPr>
        <p:txBody>
          <a:bodyPr spcFirstLastPara="1" vert="horz" wrap="square" lIns="91425" tIns="45700" rIns="91425" bIns="45700" rtlCol="0" anchor="t" anchorCtr="0">
            <a:normAutofit/>
          </a:bodyPr>
          <a:lstStyle/>
          <a:p>
            <a:pPr marL="342900" indent="-342900">
              <a:lnSpc>
                <a:spcPct val="100000"/>
              </a:lnSpc>
              <a:spcBef>
                <a:spcPts val="0"/>
              </a:spcBef>
              <a:buClr>
                <a:srgbClr val="202122"/>
              </a:buClr>
              <a:buSzPct val="100000"/>
              <a:buFont typeface="Times"/>
              <a:buChar char="•"/>
            </a:pPr>
            <a:r>
              <a:rPr lang="en-US" b="0" i="0" dirty="0">
                <a:solidFill>
                  <a:srgbClr val="202122"/>
                </a:solidFill>
                <a:latin typeface="Arial"/>
                <a:ea typeface="Arial"/>
                <a:cs typeface="Arial"/>
                <a:sym typeface="Arial"/>
              </a:rPr>
              <a:t>At current emission rates, temperatures could increase by 2 °C (3.6°F), which the </a:t>
            </a:r>
            <a:r>
              <a:rPr lang="en-US" dirty="0">
                <a:solidFill>
                  <a:srgbClr val="202122"/>
                </a:solidFill>
                <a:latin typeface="Arial"/>
                <a:ea typeface="Arial"/>
                <a:cs typeface="Arial"/>
                <a:sym typeface="Arial"/>
              </a:rPr>
              <a:t>United Nations' Intergovernmental Panel on Climate Change (IPCC) designated as the upper </a:t>
            </a:r>
            <a:r>
              <a:rPr lang="en-US" b="0" i="0" dirty="0">
                <a:solidFill>
                  <a:srgbClr val="202122"/>
                </a:solidFill>
                <a:latin typeface="Arial"/>
                <a:ea typeface="Arial"/>
                <a:cs typeface="Arial"/>
                <a:sym typeface="Arial"/>
              </a:rPr>
              <a:t>limit to avoid "dangerous" levels, by 2036.</a:t>
            </a:r>
            <a:endParaRPr dirty="0"/>
          </a:p>
        </p:txBody>
      </p:sp>
      <p:pic>
        <p:nvPicPr>
          <p:cNvPr id="359" name="Google Shape;359;p52" descr="Atmospheric concentration of CO2 measured at Mauna Loa Observatory"/>
          <p:cNvPicPr preferRelativeResize="0"/>
          <p:nvPr/>
        </p:nvPicPr>
        <p:blipFill rotWithShape="1">
          <a:blip r:embed="rId3">
            <a:alphaModFix/>
          </a:blip>
          <a:srcRect/>
          <a:stretch/>
        </p:blipFill>
        <p:spPr>
          <a:xfrm>
            <a:off x="3962400" y="900504"/>
            <a:ext cx="4108450" cy="319275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Carbon dioxide increase</a:t>
            </a:r>
            <a:endParaRPr/>
          </a:p>
        </p:txBody>
      </p:sp>
      <p:sp>
        <p:nvSpPr>
          <p:cNvPr id="365" name="Google Shape;365;p53"/>
          <p:cNvSpPr txBox="1">
            <a:spLocks noGrp="1"/>
          </p:cNvSpPr>
          <p:nvPr>
            <p:ph type="body" idx="1"/>
          </p:nvPr>
        </p:nvSpPr>
        <p:spPr>
          <a:xfrm>
            <a:off x="1716088" y="1630363"/>
            <a:ext cx="8788400" cy="3935412"/>
          </a:xfrm>
          <a:prstGeom prst="rect">
            <a:avLst/>
          </a:prstGeom>
          <a:noFill/>
          <a:ln>
            <a:noFill/>
          </a:ln>
        </p:spPr>
        <p:txBody>
          <a:bodyPr spcFirstLastPara="1" vert="horz" wrap="square" lIns="91425" tIns="45700" rIns="91425" bIns="45700" rtlCol="0" anchor="t" anchorCtr="0">
            <a:normAutofit/>
          </a:bodyPr>
          <a:lstStyle/>
          <a:p>
            <a:pPr marL="342900" indent="-342900">
              <a:lnSpc>
                <a:spcPct val="100000"/>
              </a:lnSpc>
              <a:spcBef>
                <a:spcPts val="0"/>
              </a:spcBef>
              <a:buClr>
                <a:schemeClr val="dk1"/>
              </a:buClr>
              <a:buSzPct val="100000"/>
              <a:buNone/>
            </a:pPr>
            <a:r>
              <a:rPr lang="en-US"/>
              <a:t>Due mainly to:</a:t>
            </a:r>
            <a:endParaRPr i="1"/>
          </a:p>
          <a:p>
            <a:pPr marL="342900" indent="-154940">
              <a:lnSpc>
                <a:spcPct val="100000"/>
              </a:lnSpc>
              <a:spcBef>
                <a:spcPts val="0"/>
              </a:spcBef>
              <a:buClr>
                <a:schemeClr val="dk1"/>
              </a:buClr>
              <a:buSzPct val="100000"/>
              <a:buNone/>
            </a:pPr>
            <a:endParaRPr i="1"/>
          </a:p>
          <a:p>
            <a:pPr marL="342900" indent="-342900">
              <a:lnSpc>
                <a:spcPct val="100000"/>
              </a:lnSpc>
              <a:spcBef>
                <a:spcPts val="0"/>
              </a:spcBef>
              <a:buClr>
                <a:schemeClr val="dk1"/>
              </a:buClr>
              <a:buSzPct val="100000"/>
              <a:buFont typeface="Times"/>
              <a:buChar char="•"/>
            </a:pPr>
            <a:r>
              <a:rPr lang="en-US" b="1" u="sng"/>
              <a:t>Burning of fossil fuels</a:t>
            </a:r>
            <a:r>
              <a:rPr lang="en-US"/>
              <a:t>: We remove and combust carbon-rich fuels from the ground where they have been stored for millions of years, sending CO</a:t>
            </a:r>
            <a:r>
              <a:rPr lang="en-US" baseline="-25000"/>
              <a:t>2  </a:t>
            </a:r>
            <a:r>
              <a:rPr lang="en-US"/>
              <a:t>into the atmosphere.</a:t>
            </a:r>
            <a:endParaRPr/>
          </a:p>
          <a:p>
            <a:pPr marL="342900" indent="-154940">
              <a:lnSpc>
                <a:spcPct val="100000"/>
              </a:lnSpc>
              <a:spcBef>
                <a:spcPts val="0"/>
              </a:spcBef>
              <a:buClr>
                <a:schemeClr val="dk1"/>
              </a:buClr>
              <a:buSzPct val="100000"/>
              <a:buNone/>
            </a:pPr>
            <a:endParaRPr/>
          </a:p>
          <a:p>
            <a:pPr marL="342900" indent="-342900">
              <a:lnSpc>
                <a:spcPct val="100000"/>
              </a:lnSpc>
              <a:spcBef>
                <a:spcPts val="0"/>
              </a:spcBef>
              <a:buClr>
                <a:schemeClr val="dk1"/>
              </a:buClr>
              <a:buSzPct val="100000"/>
              <a:buFont typeface="Times"/>
              <a:buChar char="•"/>
            </a:pPr>
            <a:r>
              <a:rPr lang="en-US" b="1" u="sng"/>
              <a:t>Deforestation</a:t>
            </a:r>
            <a:r>
              <a:rPr lang="en-US"/>
              <a:t>: Cutting down trees, removing vegetation from the land, decreases the sink for carbon.</a:t>
            </a:r>
            <a:endParaRPr/>
          </a:p>
          <a:p>
            <a:pPr marL="342900" indent="-154940">
              <a:lnSpc>
                <a:spcPct val="100000"/>
              </a:lnSpc>
              <a:spcBef>
                <a:spcPts val="0"/>
              </a:spcBef>
              <a:buClr>
                <a:schemeClr val="dk1"/>
              </a:buClr>
              <a:buSzPct val="1000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Methane and other greenhouse gases</a:t>
            </a:r>
            <a:endParaRPr/>
          </a:p>
        </p:txBody>
      </p:sp>
      <p:sp>
        <p:nvSpPr>
          <p:cNvPr id="371" name="Google Shape;371;p54"/>
          <p:cNvSpPr txBox="1">
            <a:spLocks noGrp="1"/>
          </p:cNvSpPr>
          <p:nvPr>
            <p:ph type="body" idx="1"/>
          </p:nvPr>
        </p:nvSpPr>
        <p:spPr>
          <a:xfrm>
            <a:off x="2209801" y="1981200"/>
            <a:ext cx="8145463" cy="41148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2600"/>
            </a:pPr>
            <a:r>
              <a:rPr lang="en-US" sz="2600"/>
              <a:t>Generally present at lower concentrations than CO</a:t>
            </a:r>
            <a:r>
              <a:rPr lang="en-US" sz="2600" baseline="-25000"/>
              <a:t>2</a:t>
            </a:r>
            <a:r>
              <a:rPr lang="en-US" sz="2600"/>
              <a:t>.</a:t>
            </a:r>
            <a:endParaRPr/>
          </a:p>
          <a:p>
            <a:pPr marL="342900" indent="-342900">
              <a:spcBef>
                <a:spcPts val="1720"/>
              </a:spcBef>
              <a:buClr>
                <a:schemeClr val="dk1"/>
              </a:buClr>
              <a:buSzPts val="2600"/>
            </a:pPr>
            <a:r>
              <a:rPr lang="en-US" sz="2600"/>
              <a:t>More complicated molecules with more polar bonds have more and stronger IR absorption bands – global warming potential (GWP).</a:t>
            </a:r>
            <a:endParaRPr/>
          </a:p>
          <a:p>
            <a:pPr marL="342900" indent="-342900">
              <a:spcBef>
                <a:spcPts val="1720"/>
              </a:spcBef>
              <a:buClr>
                <a:schemeClr val="dk1"/>
              </a:buClr>
              <a:buSzPts val="2600"/>
            </a:pPr>
            <a:r>
              <a:rPr lang="en-US" sz="2600"/>
              <a:t>Relative importance is given by the product of concentration and GWP.</a:t>
            </a:r>
            <a:endParaRPr/>
          </a:p>
          <a:p>
            <a:pPr marL="342900" indent="-342900">
              <a:spcBef>
                <a:spcPts val="1720"/>
              </a:spcBef>
              <a:buClr>
                <a:schemeClr val="dk1"/>
              </a:buClr>
              <a:buSzPts val="2600"/>
            </a:pPr>
            <a:r>
              <a:rPr lang="en-US" sz="2600"/>
              <a:t>Atmospheric lifetime is important – of the long-lived greenhouse gases (LLGHGs), methane has the shortest lifetime, being susceptible to reaction with </a:t>
            </a:r>
            <a:r>
              <a:rPr lang="en-US" sz="2600">
                <a:latin typeface="Noto Sans Symbols"/>
                <a:ea typeface="Noto Sans Symbols"/>
                <a:cs typeface="Noto Sans Symbols"/>
                <a:sym typeface="Noto Sans Symbols"/>
              </a:rPr>
              <a:t>•</a:t>
            </a:r>
            <a:r>
              <a:rPr lang="en-US" sz="2600"/>
              <a:t>OH.</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Methane</a:t>
            </a:r>
            <a:endParaRPr/>
          </a:p>
        </p:txBody>
      </p:sp>
      <p:sp>
        <p:nvSpPr>
          <p:cNvPr id="377" name="Google Shape;377;p55"/>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ct val="100000"/>
            </a:pPr>
            <a:r>
              <a:rPr lang="en-US"/>
              <a:t>40% from natural sources</a:t>
            </a:r>
            <a:endParaRPr/>
          </a:p>
          <a:p>
            <a:pPr marL="342900" indent="-342900">
              <a:spcBef>
                <a:spcPts val="1792"/>
              </a:spcBef>
              <a:buClr>
                <a:schemeClr val="dk1"/>
              </a:buClr>
              <a:buSzPct val="100000"/>
            </a:pPr>
            <a:r>
              <a:rPr lang="en-US"/>
              <a:t>Decaying vegetation, marsh gas.</a:t>
            </a:r>
            <a:endParaRPr/>
          </a:p>
          <a:p>
            <a:pPr marL="342900" indent="-342900">
              <a:spcBef>
                <a:spcPts val="1792"/>
              </a:spcBef>
              <a:buClr>
                <a:schemeClr val="dk1"/>
              </a:buClr>
              <a:buSzPct val="100000"/>
            </a:pPr>
            <a:r>
              <a:rPr lang="en-US"/>
              <a:t>Agriculture, especially rice paddies with anaerobic bacteria.</a:t>
            </a:r>
            <a:endParaRPr/>
          </a:p>
          <a:p>
            <a:pPr marL="342900" indent="-342900">
              <a:spcBef>
                <a:spcPts val="1792"/>
              </a:spcBef>
              <a:buClr>
                <a:schemeClr val="dk1"/>
              </a:buClr>
              <a:buSzPct val="100000"/>
            </a:pPr>
            <a:r>
              <a:rPr lang="en-US"/>
              <a:t>Ruminants (cattle and sheep) – you don’t want to know where it comes from! 500L cow</a:t>
            </a:r>
            <a:r>
              <a:rPr lang="en-US" baseline="30000"/>
              <a:t>-1</a:t>
            </a:r>
            <a:r>
              <a:rPr lang="en-US"/>
              <a:t> day</a:t>
            </a:r>
            <a:r>
              <a:rPr lang="en-US" baseline="30000"/>
              <a:t>-1</a:t>
            </a:r>
            <a:endParaRPr/>
          </a:p>
          <a:p>
            <a:pPr marL="342900" indent="-342900">
              <a:spcBef>
                <a:spcPts val="1792"/>
              </a:spcBef>
              <a:buClr>
                <a:schemeClr val="dk1"/>
              </a:buClr>
              <a:buSzPct val="100000"/>
            </a:pPr>
            <a:r>
              <a:rPr lang="en-US"/>
              <a:t>Termites (same chemistry)</a:t>
            </a:r>
            <a:endParaRPr/>
          </a:p>
          <a:p>
            <a:pPr marL="342900" indent="-342900">
              <a:spcBef>
                <a:spcPts val="592"/>
              </a:spcBef>
              <a:buClr>
                <a:schemeClr val="dk1"/>
              </a:buClr>
              <a:buSzPct val="100000"/>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56"/>
          <p:cNvPicPr preferRelativeResize="0"/>
          <p:nvPr/>
        </p:nvPicPr>
        <p:blipFill rotWithShape="1">
          <a:blip r:embed="rId3">
            <a:alphaModFix/>
          </a:blip>
          <a:srcRect/>
          <a:stretch/>
        </p:blipFill>
        <p:spPr>
          <a:xfrm>
            <a:off x="2514600" y="967651"/>
            <a:ext cx="7239000" cy="531427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Nitrous oxide (NO</a:t>
            </a:r>
            <a:r>
              <a:rPr lang="en-US" baseline="-25000"/>
              <a:t>2</a:t>
            </a:r>
            <a:r>
              <a:rPr lang="en-US"/>
              <a:t>) “laughing gas”</a:t>
            </a:r>
            <a:endParaRPr/>
          </a:p>
        </p:txBody>
      </p:sp>
      <p:sp>
        <p:nvSpPr>
          <p:cNvPr id="388" name="Google Shape;388;p57"/>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a:t>Bacterial conversion of nitrate (NO</a:t>
            </a:r>
            <a:r>
              <a:rPr lang="en-US" baseline="30000"/>
              <a:t>-</a:t>
            </a:r>
            <a:r>
              <a:rPr lang="en-US" baseline="-25000"/>
              <a:t>3</a:t>
            </a:r>
            <a:r>
              <a:rPr lang="en-US"/>
              <a:t>) from soils</a:t>
            </a:r>
            <a:endParaRPr/>
          </a:p>
          <a:p>
            <a:pPr marL="342900" indent="-342900">
              <a:spcBef>
                <a:spcPts val="1840"/>
              </a:spcBef>
              <a:buClr>
                <a:schemeClr val="dk1"/>
              </a:buClr>
              <a:buSzPts val="3200"/>
            </a:pPr>
            <a:r>
              <a:rPr lang="en-US"/>
              <a:t>Catalytic converters</a:t>
            </a:r>
            <a:endParaRPr/>
          </a:p>
          <a:p>
            <a:pPr marL="342900" indent="-342900">
              <a:spcBef>
                <a:spcPts val="1840"/>
              </a:spcBef>
              <a:buClr>
                <a:schemeClr val="dk1"/>
              </a:buClr>
              <a:buSzPts val="3200"/>
            </a:pPr>
            <a:r>
              <a:rPr lang="en-US"/>
              <a:t>Ammonia fertilizers</a:t>
            </a:r>
            <a:endParaRPr/>
          </a:p>
          <a:p>
            <a:pPr marL="342900" indent="-342900">
              <a:spcBef>
                <a:spcPts val="1840"/>
              </a:spcBef>
              <a:buClr>
                <a:schemeClr val="dk1"/>
              </a:buClr>
              <a:buSzPts val="3200"/>
            </a:pPr>
            <a:r>
              <a:rPr lang="en-US"/>
              <a:t>Biomass burning</a:t>
            </a:r>
            <a:endParaRPr/>
          </a:p>
          <a:p>
            <a:pPr marL="342900" indent="-342900">
              <a:spcBef>
                <a:spcPts val="1840"/>
              </a:spcBef>
              <a:buClr>
                <a:schemeClr val="dk1"/>
              </a:buClr>
              <a:buSzPts val="3200"/>
            </a:pPr>
            <a:r>
              <a:rPr lang="en-US"/>
              <a:t>Nylon and nitric acid manufacture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Increase of other greenhouse gases</a:t>
            </a:r>
            <a:endParaRPr/>
          </a:p>
        </p:txBody>
      </p:sp>
      <p:sp>
        <p:nvSpPr>
          <p:cNvPr id="394" name="Google Shape;394;p58"/>
          <p:cNvSpPr txBox="1">
            <a:spLocks noGrp="1"/>
          </p:cNvSpPr>
          <p:nvPr>
            <p:ph type="body" idx="1"/>
          </p:nvPr>
        </p:nvSpPr>
        <p:spPr>
          <a:xfrm>
            <a:off x="1681163" y="4184651"/>
            <a:ext cx="7599362" cy="1800225"/>
          </a:xfrm>
          <a:prstGeom prst="rect">
            <a:avLst/>
          </a:prstGeom>
          <a:noFill/>
          <a:ln>
            <a:noFill/>
          </a:ln>
        </p:spPr>
        <p:txBody>
          <a:bodyPr spcFirstLastPara="1" vert="horz" wrap="square" lIns="91425" tIns="45700" rIns="91425" bIns="45700" rtlCol="0" anchor="t" anchorCtr="0">
            <a:normAutofit/>
          </a:bodyPr>
          <a:lstStyle/>
          <a:p>
            <a:pPr marL="533400" indent="-533400">
              <a:lnSpc>
                <a:spcPct val="100000"/>
              </a:lnSpc>
              <a:spcBef>
                <a:spcPts val="0"/>
              </a:spcBef>
              <a:buClr>
                <a:schemeClr val="dk1"/>
              </a:buClr>
              <a:buSzPct val="100000"/>
              <a:buNone/>
            </a:pPr>
            <a:r>
              <a:rPr lang="en-US" b="1" dirty="0"/>
              <a:t>Nitrous oxide:</a:t>
            </a:r>
            <a:r>
              <a:rPr lang="en-US" i="1" dirty="0"/>
              <a:t> </a:t>
            </a:r>
            <a:endParaRPr dirty="0"/>
          </a:p>
          <a:p>
            <a:pPr marL="533400" indent="-533400">
              <a:lnSpc>
                <a:spcPct val="100000"/>
              </a:lnSpc>
              <a:spcBef>
                <a:spcPts val="0"/>
              </a:spcBef>
              <a:buClr>
                <a:schemeClr val="dk1"/>
              </a:buClr>
              <a:buSzPct val="100000"/>
            </a:pPr>
            <a:r>
              <a:rPr lang="en-US" dirty="0"/>
              <a:t>Up 17% since 1750</a:t>
            </a:r>
            <a:endParaRPr dirty="0"/>
          </a:p>
          <a:p>
            <a:pPr marL="533400" indent="-533400">
              <a:lnSpc>
                <a:spcPct val="100000"/>
              </a:lnSpc>
              <a:spcBef>
                <a:spcPts val="0"/>
              </a:spcBef>
              <a:buClr>
                <a:schemeClr val="dk1"/>
              </a:buClr>
              <a:buSzPct val="100000"/>
            </a:pPr>
            <a:r>
              <a:rPr lang="en-US" dirty="0"/>
              <a:t>From chemical plants, auto emissions, agricultural practices</a:t>
            </a:r>
            <a:endParaRPr dirty="0"/>
          </a:p>
        </p:txBody>
      </p:sp>
      <p:sp>
        <p:nvSpPr>
          <p:cNvPr id="395" name="Google Shape;395;p58"/>
          <p:cNvSpPr txBox="1"/>
          <p:nvPr/>
        </p:nvSpPr>
        <p:spPr>
          <a:xfrm>
            <a:off x="1666876" y="2278064"/>
            <a:ext cx="4557713" cy="369291"/>
          </a:xfrm>
          <a:prstGeom prst="rect">
            <a:avLst/>
          </a:prstGeom>
          <a:noFill/>
          <a:ln>
            <a:noFill/>
          </a:ln>
        </p:spPr>
        <p:txBody>
          <a:bodyPr spcFirstLastPara="1" wrap="square" lIns="91425" tIns="45700" rIns="91425" bIns="45700" anchor="t" anchorCtr="0">
            <a:spAutoFit/>
          </a:bodyPr>
          <a:lstStyle/>
          <a:p>
            <a:pPr marL="519113" indent="-403225">
              <a:buClr>
                <a:srgbClr val="006600"/>
              </a:buClr>
              <a:buSzPts val="1800"/>
              <a:buFont typeface="Calibri"/>
              <a:buChar char="•"/>
            </a:pPr>
            <a:r>
              <a:rPr lang="en-US">
                <a:solidFill>
                  <a:schemeClr val="dk1"/>
                </a:solidFill>
                <a:latin typeface="Calibri"/>
                <a:ea typeface="Calibri"/>
                <a:cs typeface="Calibri"/>
                <a:sym typeface="Calibri"/>
              </a:rPr>
              <a:t>Up 151% since 1750</a:t>
            </a:r>
            <a:endParaRPr/>
          </a:p>
        </p:txBody>
      </p:sp>
      <p:pic>
        <p:nvPicPr>
          <p:cNvPr id="396" name="Google Shape;396;p58" descr="18-02Figure_L"/>
          <p:cNvPicPr preferRelativeResize="0"/>
          <p:nvPr/>
        </p:nvPicPr>
        <p:blipFill rotWithShape="1">
          <a:blip r:embed="rId3">
            <a:alphaModFix/>
          </a:blip>
          <a:srcRect b="3143"/>
          <a:stretch/>
        </p:blipFill>
        <p:spPr>
          <a:xfrm>
            <a:off x="6192838" y="1795463"/>
            <a:ext cx="4222750" cy="3168650"/>
          </a:xfrm>
          <a:prstGeom prst="rect">
            <a:avLst/>
          </a:prstGeom>
          <a:noFill/>
          <a:ln>
            <a:noFill/>
          </a:ln>
        </p:spPr>
      </p:pic>
      <p:sp>
        <p:nvSpPr>
          <p:cNvPr id="397" name="Google Shape;397;p58"/>
          <p:cNvSpPr txBox="1"/>
          <p:nvPr/>
        </p:nvSpPr>
        <p:spPr>
          <a:xfrm>
            <a:off x="1727200" y="1857376"/>
            <a:ext cx="2393950" cy="369291"/>
          </a:xfrm>
          <a:prstGeom prst="rect">
            <a:avLst/>
          </a:prstGeom>
          <a:noFill/>
          <a:ln>
            <a:noFill/>
          </a:ln>
        </p:spPr>
        <p:txBody>
          <a:bodyPr spcFirstLastPara="1" wrap="square" lIns="91425" tIns="45700" rIns="91425" bIns="45700" anchor="t" anchorCtr="0">
            <a:spAutoFit/>
          </a:bodyPr>
          <a:lstStyle/>
          <a:p>
            <a:r>
              <a:rPr lang="en-US" b="1">
                <a:solidFill>
                  <a:schemeClr val="dk1"/>
                </a:solidFill>
                <a:latin typeface="Calibri"/>
                <a:ea typeface="Calibri"/>
                <a:cs typeface="Calibri"/>
                <a:sym typeface="Calibri"/>
              </a:rPr>
              <a:t>Methane:</a:t>
            </a:r>
            <a:endParaRPr/>
          </a:p>
        </p:txBody>
      </p:sp>
      <p:sp>
        <p:nvSpPr>
          <p:cNvPr id="398" name="Google Shape;398;p58"/>
          <p:cNvSpPr txBox="1"/>
          <p:nvPr/>
        </p:nvSpPr>
        <p:spPr>
          <a:xfrm>
            <a:off x="1670050" y="2759075"/>
            <a:ext cx="4324350" cy="646290"/>
          </a:xfrm>
          <a:prstGeom prst="rect">
            <a:avLst/>
          </a:prstGeom>
          <a:noFill/>
          <a:ln>
            <a:noFill/>
          </a:ln>
        </p:spPr>
        <p:txBody>
          <a:bodyPr spcFirstLastPara="1" wrap="square" lIns="91425" tIns="45700" rIns="91425" bIns="45700" anchor="t" anchorCtr="0">
            <a:spAutoFit/>
          </a:bodyPr>
          <a:lstStyle/>
          <a:p>
            <a:pPr marL="461963" indent="-346075">
              <a:buClr>
                <a:srgbClr val="006600"/>
              </a:buClr>
              <a:buSzPts val="1800"/>
              <a:buFont typeface="Calibri"/>
              <a:buChar char="•"/>
            </a:pPr>
            <a:r>
              <a:rPr lang="en-US">
                <a:solidFill>
                  <a:schemeClr val="dk1"/>
                </a:solidFill>
                <a:latin typeface="Calibri"/>
                <a:ea typeface="Calibri"/>
                <a:cs typeface="Calibri"/>
                <a:sym typeface="Calibri"/>
              </a:rPr>
              <a:t>From fossil fuels, landfills, 	cattle, rice crops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Increase of other greenhouse gases</a:t>
            </a:r>
            <a:endParaRPr/>
          </a:p>
        </p:txBody>
      </p:sp>
      <p:sp>
        <p:nvSpPr>
          <p:cNvPr id="404" name="Google Shape;404;p59"/>
          <p:cNvSpPr txBox="1">
            <a:spLocks noGrp="1"/>
          </p:cNvSpPr>
          <p:nvPr>
            <p:ph type="body" idx="1"/>
          </p:nvPr>
        </p:nvSpPr>
        <p:spPr>
          <a:xfrm>
            <a:off x="2430463" y="1825626"/>
            <a:ext cx="7497762" cy="3508375"/>
          </a:xfrm>
          <a:prstGeom prst="rect">
            <a:avLst/>
          </a:prstGeom>
          <a:noFill/>
          <a:ln>
            <a:noFill/>
          </a:ln>
        </p:spPr>
        <p:txBody>
          <a:bodyPr spcFirstLastPara="1" vert="horz" wrap="square" lIns="91425" tIns="45700" rIns="91425" bIns="45700" rtlCol="0" anchor="t" anchorCtr="0">
            <a:normAutofit/>
          </a:bodyPr>
          <a:lstStyle/>
          <a:p>
            <a:pPr marL="342900" indent="-342900">
              <a:lnSpc>
                <a:spcPct val="100000"/>
              </a:lnSpc>
              <a:spcBef>
                <a:spcPts val="0"/>
              </a:spcBef>
              <a:buClr>
                <a:schemeClr val="dk1"/>
              </a:buClr>
              <a:buSzPct val="100000"/>
            </a:pPr>
            <a:r>
              <a:rPr lang="en-US" dirty="0"/>
              <a:t>Halocarbon gases (which include CFCs) are powerful greenhouse gases.</a:t>
            </a:r>
            <a:endParaRPr dirty="0"/>
          </a:p>
          <a:p>
            <a:pPr marL="342900" indent="-154940">
              <a:lnSpc>
                <a:spcPct val="100000"/>
              </a:lnSpc>
              <a:spcBef>
                <a:spcPts val="0"/>
              </a:spcBef>
              <a:buClr>
                <a:schemeClr val="dk1"/>
              </a:buClr>
              <a:buSzPct val="100000"/>
              <a:buNone/>
            </a:pPr>
            <a:endParaRPr dirty="0"/>
          </a:p>
          <a:p>
            <a:pPr marL="342900" indent="-342900">
              <a:lnSpc>
                <a:spcPct val="100000"/>
              </a:lnSpc>
              <a:spcBef>
                <a:spcPts val="0"/>
              </a:spcBef>
              <a:buClr>
                <a:schemeClr val="dk1"/>
              </a:buClr>
              <a:buSzPct val="100000"/>
            </a:pPr>
            <a:r>
              <a:rPr lang="en-US" dirty="0"/>
              <a:t>But their effects are slowing due to the Montreal Protocol.</a:t>
            </a:r>
            <a:endParaRPr dirty="0"/>
          </a:p>
          <a:p>
            <a:pPr marL="342900" indent="-154940">
              <a:lnSpc>
                <a:spcPct val="100000"/>
              </a:lnSpc>
              <a:spcBef>
                <a:spcPts val="0"/>
              </a:spcBef>
              <a:buClr>
                <a:schemeClr val="dk1"/>
              </a:buClr>
              <a:buSzPct val="100000"/>
              <a:buNone/>
            </a:pPr>
            <a:endParaRPr dirty="0"/>
          </a:p>
          <a:p>
            <a:pPr marL="342900" indent="-342900">
              <a:lnSpc>
                <a:spcPct val="100000"/>
              </a:lnSpc>
              <a:spcBef>
                <a:spcPts val="0"/>
              </a:spcBef>
              <a:buClr>
                <a:schemeClr val="dk1"/>
              </a:buClr>
              <a:buSzPct val="100000"/>
            </a:pPr>
            <a:r>
              <a:rPr lang="en-US" dirty="0"/>
              <a:t>Water vapor is the most abundant greenhouse gas. Its future changes, if any, remain uncertain.</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pPr eaLnBrk="1" hangingPunct="1"/>
            <a:r>
              <a:rPr lang="en-US"/>
              <a:t>GHE#1 - natural</a:t>
            </a:r>
          </a:p>
        </p:txBody>
      </p:sp>
      <p:pic>
        <p:nvPicPr>
          <p:cNvPr id="10243" name="Picture 3" descr="1bBackground"/>
          <p:cNvPicPr>
            <a:picLocks noChangeAspect="1" noChangeArrowheads="1"/>
          </p:cNvPicPr>
          <p:nvPr/>
        </p:nvPicPr>
        <p:blipFill>
          <a:blip r:embed="rId3" cstate="print"/>
          <a:srcRect/>
          <a:stretch>
            <a:fillRect/>
          </a:stretch>
        </p:blipFill>
        <p:spPr bwMode="auto">
          <a:xfrm>
            <a:off x="2667000" y="857250"/>
            <a:ext cx="6858000" cy="5143500"/>
          </a:xfrm>
          <a:prstGeom prst="rect">
            <a:avLst/>
          </a:prstGeom>
          <a:noFill/>
          <a:ln w="9525">
            <a:noFill/>
            <a:miter lim="800000"/>
            <a:headEnd/>
            <a:tailEnd/>
          </a:ln>
        </p:spPr>
      </p:pic>
      <p:pic>
        <p:nvPicPr>
          <p:cNvPr id="181252" name="Picture 4" descr="6NatGreenhouse"/>
          <p:cNvPicPr>
            <a:picLocks noChangeAspect="1" noChangeArrowheads="1"/>
          </p:cNvPicPr>
          <p:nvPr/>
        </p:nvPicPr>
        <p:blipFill>
          <a:blip r:embed="rId4" cstate="print">
            <a:clrChange>
              <a:clrFrom>
                <a:srgbClr val="FFFFFF"/>
              </a:clrFrom>
              <a:clrTo>
                <a:srgbClr val="FFFFFF">
                  <a:alpha val="0"/>
                </a:srgbClr>
              </a:clrTo>
            </a:clrChange>
          </a:blip>
          <a:srcRect t="58888" b="3334"/>
          <a:stretch>
            <a:fillRect/>
          </a:stretch>
        </p:blipFill>
        <p:spPr bwMode="auto">
          <a:xfrm>
            <a:off x="2667000" y="3886200"/>
            <a:ext cx="6858000" cy="1943100"/>
          </a:xfrm>
          <a:prstGeom prst="rect">
            <a:avLst/>
          </a:prstGeom>
          <a:noFill/>
          <a:ln w="9525">
            <a:noFill/>
            <a:miter lim="800000"/>
            <a:headEnd/>
            <a:tailEnd/>
          </a:ln>
        </p:spPr>
      </p:pic>
      <p:pic>
        <p:nvPicPr>
          <p:cNvPr id="10245" name="Picture 5" descr="1aBackground"/>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2667000" y="857250"/>
            <a:ext cx="6858000" cy="5143500"/>
          </a:xfrm>
          <a:prstGeom prst="rect">
            <a:avLst/>
          </a:prstGeom>
          <a:noFill/>
          <a:ln w="9525">
            <a:noFill/>
            <a:miter lim="800000"/>
            <a:headEnd/>
            <a:tailEnd/>
          </a:ln>
        </p:spPr>
      </p:pic>
      <p:pic>
        <p:nvPicPr>
          <p:cNvPr id="181254" name="Picture 6" descr="Sunarrow"/>
          <p:cNvPicPr>
            <a:picLocks noChangeAspect="1" noChangeArrowheads="1"/>
          </p:cNvPicPr>
          <p:nvPr/>
        </p:nvPicPr>
        <p:blipFill>
          <a:blip r:embed="rId6" cstate="print">
            <a:clrChange>
              <a:clrFrom>
                <a:srgbClr val="FFFFFF"/>
              </a:clrFrom>
              <a:clrTo>
                <a:srgbClr val="FFFFFF">
                  <a:alpha val="0"/>
                </a:srgbClr>
              </a:clrTo>
            </a:clrChange>
          </a:blip>
          <a:srcRect l="13333" t="38333" r="70000" b="5556"/>
          <a:stretch>
            <a:fillRect/>
          </a:stretch>
        </p:blipFill>
        <p:spPr bwMode="auto">
          <a:xfrm>
            <a:off x="3581400" y="2828926"/>
            <a:ext cx="1143000" cy="2886075"/>
          </a:xfrm>
          <a:prstGeom prst="rect">
            <a:avLst/>
          </a:prstGeom>
          <a:noFill/>
          <a:ln w="9525">
            <a:noFill/>
            <a:miter lim="800000"/>
            <a:headEnd/>
            <a:tailEnd/>
          </a:ln>
        </p:spPr>
      </p:pic>
      <p:pic>
        <p:nvPicPr>
          <p:cNvPr id="181255" name="Picture 7" descr="3EarthArrow"/>
          <p:cNvPicPr>
            <a:picLocks noChangeAspect="1" noChangeArrowheads="1"/>
          </p:cNvPicPr>
          <p:nvPr/>
        </p:nvPicPr>
        <p:blipFill>
          <a:blip r:embed="rId7" cstate="print">
            <a:clrChange>
              <a:clrFrom>
                <a:srgbClr val="FFFFFF"/>
              </a:clrFrom>
              <a:clrTo>
                <a:srgbClr val="FFFFFF">
                  <a:alpha val="0"/>
                </a:srgbClr>
              </a:clrTo>
            </a:clrChange>
          </a:blip>
          <a:srcRect l="20000" t="55556" r="55000"/>
          <a:stretch>
            <a:fillRect/>
          </a:stretch>
        </p:blipFill>
        <p:spPr bwMode="auto">
          <a:xfrm>
            <a:off x="4552950" y="3714750"/>
            <a:ext cx="1714500" cy="2286000"/>
          </a:xfrm>
          <a:prstGeom prst="rect">
            <a:avLst/>
          </a:prstGeom>
          <a:noFill/>
          <a:ln w="9525">
            <a:noFill/>
            <a:miter lim="800000"/>
            <a:headEnd/>
            <a:tailEnd/>
          </a:ln>
        </p:spPr>
      </p:pic>
      <p:pic>
        <p:nvPicPr>
          <p:cNvPr id="181256" name="Picture 8" descr="4Atmosphere"/>
          <p:cNvPicPr>
            <a:picLocks noChangeAspect="1" noChangeArrowheads="1"/>
          </p:cNvPicPr>
          <p:nvPr/>
        </p:nvPicPr>
        <p:blipFill>
          <a:blip r:embed="rId8" cstate="print">
            <a:clrChange>
              <a:clrFrom>
                <a:srgbClr val="FFFFFF"/>
              </a:clrFrom>
              <a:clrTo>
                <a:srgbClr val="FFFFFF">
                  <a:alpha val="0"/>
                </a:srgbClr>
              </a:clrTo>
            </a:clrChange>
          </a:blip>
          <a:srcRect l="27501" t="36667" r="5830" b="39999"/>
          <a:stretch>
            <a:fillRect/>
          </a:stretch>
        </p:blipFill>
        <p:spPr bwMode="auto">
          <a:xfrm>
            <a:off x="4552950" y="2743200"/>
            <a:ext cx="4572000" cy="1200150"/>
          </a:xfrm>
          <a:prstGeom prst="rect">
            <a:avLst/>
          </a:prstGeom>
          <a:noFill/>
          <a:ln w="9525">
            <a:noFill/>
            <a:miter lim="800000"/>
            <a:headEnd/>
            <a:tailEnd/>
          </a:ln>
        </p:spPr>
      </p:pic>
      <p:pic>
        <p:nvPicPr>
          <p:cNvPr id="181257" name="Picture 9" descr="5NatGreenhouse"/>
          <p:cNvPicPr>
            <a:picLocks noChangeAspect="1" noChangeArrowheads="1"/>
          </p:cNvPicPr>
          <p:nvPr/>
        </p:nvPicPr>
        <p:blipFill>
          <a:blip r:embed="rId9" cstate="print">
            <a:clrChange>
              <a:clrFrom>
                <a:srgbClr val="FFFFFF"/>
              </a:clrFrom>
              <a:clrTo>
                <a:srgbClr val="FFFFFF">
                  <a:alpha val="0"/>
                </a:srgbClr>
              </a:clrTo>
            </a:clrChange>
          </a:blip>
          <a:srcRect l="28334" t="13333" r="5833" b="16667"/>
          <a:stretch>
            <a:fillRect/>
          </a:stretch>
        </p:blipFill>
        <p:spPr bwMode="auto">
          <a:xfrm>
            <a:off x="4610100" y="1543050"/>
            <a:ext cx="4514850" cy="3600450"/>
          </a:xfrm>
          <a:prstGeom prst="rect">
            <a:avLst/>
          </a:prstGeom>
          <a:noFill/>
          <a:ln w="9525">
            <a:noFill/>
            <a:miter lim="800000"/>
            <a:headEnd/>
            <a:tailEnd/>
          </a:ln>
        </p:spPr>
      </p:pic>
      <p:sp>
        <p:nvSpPr>
          <p:cNvPr id="10250" name="Text Box 10"/>
          <p:cNvSpPr txBox="1">
            <a:spLocks noChangeArrowheads="1"/>
          </p:cNvSpPr>
          <p:nvPr/>
        </p:nvSpPr>
        <p:spPr bwMode="auto">
          <a:xfrm>
            <a:off x="3409950" y="1028702"/>
            <a:ext cx="6115050" cy="507831"/>
          </a:xfrm>
          <a:prstGeom prst="rect">
            <a:avLst/>
          </a:prstGeom>
          <a:noFill/>
          <a:ln w="9525">
            <a:noFill/>
            <a:miter lim="800000"/>
            <a:headEnd/>
            <a:tailEnd/>
          </a:ln>
        </p:spPr>
        <p:txBody>
          <a:bodyPr>
            <a:spAutoFit/>
          </a:bodyPr>
          <a:lstStyle/>
          <a:p>
            <a:pPr algn="r" eaLnBrk="0" hangingPunct="0">
              <a:spcBef>
                <a:spcPct val="50000"/>
              </a:spcBef>
            </a:pPr>
            <a:r>
              <a:rPr lang="en-US" sz="2700">
                <a:solidFill>
                  <a:srgbClr val="1D6C2B"/>
                </a:solidFill>
                <a:latin typeface="Arial" charset="0"/>
              </a:rPr>
              <a:t>Earth’s Natural Greenhouse Effect</a:t>
            </a:r>
          </a:p>
        </p:txBody>
      </p:sp>
    </p:spTree>
    <p:extLst>
      <p:ext uri="{BB962C8B-B14F-4D97-AF65-F5344CB8AC3E}">
        <p14:creationId xmlns:p14="http://schemas.microsoft.com/office/powerpoint/2010/main" val="55443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2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12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12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12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1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descr="1bBackground"/>
          <p:cNvPicPr>
            <a:picLocks noChangeAspect="1" noChangeArrowheads="1"/>
          </p:cNvPicPr>
          <p:nvPr/>
        </p:nvPicPr>
        <p:blipFill>
          <a:blip r:embed="rId3" cstate="print"/>
          <a:srcRect/>
          <a:stretch>
            <a:fillRect/>
          </a:stretch>
        </p:blipFill>
        <p:spPr bwMode="auto">
          <a:xfrm>
            <a:off x="2667000" y="857250"/>
            <a:ext cx="6858000" cy="5143500"/>
          </a:xfrm>
          <a:prstGeom prst="rect">
            <a:avLst/>
          </a:prstGeom>
          <a:noFill/>
          <a:ln w="9525">
            <a:noFill/>
            <a:miter lim="800000"/>
            <a:headEnd/>
            <a:tailEnd/>
          </a:ln>
        </p:spPr>
      </p:pic>
      <p:pic>
        <p:nvPicPr>
          <p:cNvPr id="11268" name="Picture 4" descr="6NatGreenhouse"/>
          <p:cNvPicPr>
            <a:picLocks noChangeAspect="1" noChangeArrowheads="1"/>
          </p:cNvPicPr>
          <p:nvPr/>
        </p:nvPicPr>
        <p:blipFill>
          <a:blip r:embed="rId4" cstate="print">
            <a:clrChange>
              <a:clrFrom>
                <a:srgbClr val="FFFFFF"/>
              </a:clrFrom>
              <a:clrTo>
                <a:srgbClr val="FFFFFF">
                  <a:alpha val="0"/>
                </a:srgbClr>
              </a:clrTo>
            </a:clrChange>
          </a:blip>
          <a:srcRect t="58888" b="3334"/>
          <a:stretch>
            <a:fillRect/>
          </a:stretch>
        </p:blipFill>
        <p:spPr bwMode="auto">
          <a:xfrm>
            <a:off x="2667000" y="3886200"/>
            <a:ext cx="6858000" cy="1943100"/>
          </a:xfrm>
          <a:prstGeom prst="rect">
            <a:avLst/>
          </a:prstGeom>
          <a:noFill/>
          <a:ln w="9525">
            <a:noFill/>
            <a:miter lim="800000"/>
            <a:headEnd/>
            <a:tailEnd/>
          </a:ln>
        </p:spPr>
      </p:pic>
      <p:pic>
        <p:nvPicPr>
          <p:cNvPr id="183301" name="Picture 5" descr="10-_2xCO2"/>
          <p:cNvPicPr>
            <a:picLocks noChangeAspect="1" noChangeArrowheads="1"/>
          </p:cNvPicPr>
          <p:nvPr/>
        </p:nvPicPr>
        <p:blipFill>
          <a:blip r:embed="rId5" cstate="print">
            <a:clrChange>
              <a:clrFrom>
                <a:srgbClr val="FFFFFF"/>
              </a:clrFrom>
              <a:clrTo>
                <a:srgbClr val="FFFFFF">
                  <a:alpha val="0"/>
                </a:srgbClr>
              </a:clrTo>
            </a:clrChange>
          </a:blip>
          <a:srcRect l="4546" t="63725" r="4546" b="3922"/>
          <a:stretch>
            <a:fillRect/>
          </a:stretch>
        </p:blipFill>
        <p:spPr bwMode="auto">
          <a:xfrm>
            <a:off x="2667000" y="3886200"/>
            <a:ext cx="6858000" cy="1885950"/>
          </a:xfrm>
          <a:prstGeom prst="rect">
            <a:avLst/>
          </a:prstGeom>
          <a:noFill/>
          <a:ln w="9525">
            <a:noFill/>
            <a:miter lim="800000"/>
            <a:headEnd/>
            <a:tailEnd/>
          </a:ln>
        </p:spPr>
      </p:pic>
      <p:pic>
        <p:nvPicPr>
          <p:cNvPr id="11270" name="Picture 6" descr="1aBackground"/>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667000" y="857250"/>
            <a:ext cx="6858000" cy="5143500"/>
          </a:xfrm>
          <a:prstGeom prst="rect">
            <a:avLst/>
          </a:prstGeom>
          <a:noFill/>
          <a:ln w="9525">
            <a:noFill/>
            <a:miter lim="800000"/>
            <a:headEnd/>
            <a:tailEnd/>
          </a:ln>
        </p:spPr>
      </p:pic>
      <p:pic>
        <p:nvPicPr>
          <p:cNvPr id="11271" name="Picture 7" descr="Sunarrow"/>
          <p:cNvPicPr>
            <a:picLocks noChangeAspect="1" noChangeArrowheads="1"/>
          </p:cNvPicPr>
          <p:nvPr/>
        </p:nvPicPr>
        <p:blipFill>
          <a:blip r:embed="rId7" cstate="print">
            <a:clrChange>
              <a:clrFrom>
                <a:srgbClr val="FFFFFF"/>
              </a:clrFrom>
              <a:clrTo>
                <a:srgbClr val="FFFFFF">
                  <a:alpha val="0"/>
                </a:srgbClr>
              </a:clrTo>
            </a:clrChange>
          </a:blip>
          <a:srcRect l="13333" t="38333" r="70000" b="5556"/>
          <a:stretch>
            <a:fillRect/>
          </a:stretch>
        </p:blipFill>
        <p:spPr bwMode="auto">
          <a:xfrm>
            <a:off x="3581400" y="2828926"/>
            <a:ext cx="1143000" cy="2886075"/>
          </a:xfrm>
          <a:prstGeom prst="rect">
            <a:avLst/>
          </a:prstGeom>
          <a:noFill/>
          <a:ln w="9525">
            <a:noFill/>
            <a:miter lim="800000"/>
            <a:headEnd/>
            <a:tailEnd/>
          </a:ln>
        </p:spPr>
      </p:pic>
      <p:pic>
        <p:nvPicPr>
          <p:cNvPr id="11272" name="Picture 8" descr="3EarthArrow"/>
          <p:cNvPicPr>
            <a:picLocks noChangeAspect="1" noChangeArrowheads="1"/>
          </p:cNvPicPr>
          <p:nvPr/>
        </p:nvPicPr>
        <p:blipFill>
          <a:blip r:embed="rId8" cstate="print">
            <a:clrChange>
              <a:clrFrom>
                <a:srgbClr val="FFFFFF"/>
              </a:clrFrom>
              <a:clrTo>
                <a:srgbClr val="FFFFFF">
                  <a:alpha val="0"/>
                </a:srgbClr>
              </a:clrTo>
            </a:clrChange>
          </a:blip>
          <a:srcRect l="20000" t="55556" r="55000"/>
          <a:stretch>
            <a:fillRect/>
          </a:stretch>
        </p:blipFill>
        <p:spPr bwMode="auto">
          <a:xfrm>
            <a:off x="4552950" y="3714750"/>
            <a:ext cx="1714500" cy="2286000"/>
          </a:xfrm>
          <a:prstGeom prst="rect">
            <a:avLst/>
          </a:prstGeom>
          <a:noFill/>
          <a:ln w="9525">
            <a:noFill/>
            <a:miter lim="800000"/>
            <a:headEnd/>
            <a:tailEnd/>
          </a:ln>
        </p:spPr>
      </p:pic>
      <p:pic>
        <p:nvPicPr>
          <p:cNvPr id="11273" name="Picture 9" descr="4Atmosphere"/>
          <p:cNvPicPr>
            <a:picLocks noChangeAspect="1" noChangeArrowheads="1"/>
          </p:cNvPicPr>
          <p:nvPr/>
        </p:nvPicPr>
        <p:blipFill>
          <a:blip r:embed="rId9" cstate="print">
            <a:clrChange>
              <a:clrFrom>
                <a:srgbClr val="FFFFFF"/>
              </a:clrFrom>
              <a:clrTo>
                <a:srgbClr val="FFFFFF">
                  <a:alpha val="0"/>
                </a:srgbClr>
              </a:clrTo>
            </a:clrChange>
          </a:blip>
          <a:srcRect l="27501" t="36667" r="5830" b="39999"/>
          <a:stretch>
            <a:fillRect/>
          </a:stretch>
        </p:blipFill>
        <p:spPr bwMode="auto">
          <a:xfrm>
            <a:off x="4552950" y="2743200"/>
            <a:ext cx="4572000" cy="1200150"/>
          </a:xfrm>
          <a:prstGeom prst="rect">
            <a:avLst/>
          </a:prstGeom>
          <a:noFill/>
          <a:ln w="9525">
            <a:noFill/>
            <a:miter lim="800000"/>
            <a:headEnd/>
            <a:tailEnd/>
          </a:ln>
        </p:spPr>
      </p:pic>
      <p:pic>
        <p:nvPicPr>
          <p:cNvPr id="11274" name="Picture 10" descr="5NatGreenhouse"/>
          <p:cNvPicPr>
            <a:picLocks noChangeAspect="1" noChangeArrowheads="1"/>
          </p:cNvPicPr>
          <p:nvPr/>
        </p:nvPicPr>
        <p:blipFill>
          <a:blip r:embed="rId10" cstate="print">
            <a:clrChange>
              <a:clrFrom>
                <a:srgbClr val="FFFFFF"/>
              </a:clrFrom>
              <a:clrTo>
                <a:srgbClr val="FFFFFF">
                  <a:alpha val="0"/>
                </a:srgbClr>
              </a:clrTo>
            </a:clrChange>
          </a:blip>
          <a:srcRect l="28334" t="13333" r="5833" b="16667"/>
          <a:stretch>
            <a:fillRect/>
          </a:stretch>
        </p:blipFill>
        <p:spPr bwMode="auto">
          <a:xfrm>
            <a:off x="4610100" y="1543050"/>
            <a:ext cx="4514850" cy="3600450"/>
          </a:xfrm>
          <a:prstGeom prst="rect">
            <a:avLst/>
          </a:prstGeom>
          <a:noFill/>
          <a:ln w="9525">
            <a:noFill/>
            <a:miter lim="800000"/>
            <a:headEnd/>
            <a:tailEnd/>
          </a:ln>
        </p:spPr>
      </p:pic>
      <p:sp>
        <p:nvSpPr>
          <p:cNvPr id="11275" name="Text Box 11"/>
          <p:cNvSpPr txBox="1">
            <a:spLocks noChangeArrowheads="1"/>
          </p:cNvSpPr>
          <p:nvPr/>
        </p:nvSpPr>
        <p:spPr bwMode="auto">
          <a:xfrm>
            <a:off x="3409950" y="1028702"/>
            <a:ext cx="6115050" cy="507831"/>
          </a:xfrm>
          <a:prstGeom prst="rect">
            <a:avLst/>
          </a:prstGeom>
          <a:noFill/>
          <a:ln w="9525">
            <a:noFill/>
            <a:miter lim="800000"/>
            <a:headEnd/>
            <a:tailEnd/>
          </a:ln>
        </p:spPr>
        <p:txBody>
          <a:bodyPr>
            <a:spAutoFit/>
          </a:bodyPr>
          <a:lstStyle/>
          <a:p>
            <a:pPr algn="r" eaLnBrk="0" hangingPunct="0">
              <a:spcBef>
                <a:spcPct val="50000"/>
              </a:spcBef>
            </a:pPr>
            <a:r>
              <a:rPr lang="en-US" sz="2700">
                <a:solidFill>
                  <a:srgbClr val="1D6C2B"/>
                </a:solidFill>
                <a:latin typeface="Arial" charset="0"/>
              </a:rPr>
              <a:t>Human-caused Global Warming</a:t>
            </a:r>
          </a:p>
        </p:txBody>
      </p:sp>
      <p:pic>
        <p:nvPicPr>
          <p:cNvPr id="11276" name="Picture 12" descr="7_2xCO2"/>
          <p:cNvPicPr>
            <a:picLocks noChangeAspect="1" noChangeArrowheads="1"/>
          </p:cNvPicPr>
          <p:nvPr/>
        </p:nvPicPr>
        <p:blipFill>
          <a:blip r:embed="rId11" cstate="print">
            <a:clrChange>
              <a:clrFrom>
                <a:srgbClr val="FFFFFF"/>
              </a:clrFrom>
              <a:clrTo>
                <a:srgbClr val="FFFFFF">
                  <a:alpha val="0"/>
                </a:srgbClr>
              </a:clrTo>
            </a:clrChange>
          </a:blip>
          <a:srcRect l="79167" t="54167"/>
          <a:stretch>
            <a:fillRect/>
          </a:stretch>
        </p:blipFill>
        <p:spPr bwMode="auto">
          <a:xfrm>
            <a:off x="8096250" y="3314700"/>
            <a:ext cx="1428750" cy="2514600"/>
          </a:xfrm>
          <a:prstGeom prst="rect">
            <a:avLst/>
          </a:prstGeom>
          <a:noFill/>
          <a:ln w="9525">
            <a:noFill/>
            <a:miter lim="800000"/>
            <a:headEnd/>
            <a:tailEnd/>
          </a:ln>
        </p:spPr>
      </p:pic>
      <p:pic>
        <p:nvPicPr>
          <p:cNvPr id="183309" name="Picture 13" descr="8_2xCO2"/>
          <p:cNvPicPr>
            <a:picLocks noChangeAspect="1" noChangeArrowheads="1"/>
          </p:cNvPicPr>
          <p:nvPr/>
        </p:nvPicPr>
        <p:blipFill>
          <a:blip r:embed="rId12" cstate="print">
            <a:clrChange>
              <a:clrFrom>
                <a:srgbClr val="FFFFFF"/>
              </a:clrFrom>
              <a:clrTo>
                <a:srgbClr val="FFFFFF">
                  <a:alpha val="0"/>
                </a:srgbClr>
              </a:clrTo>
            </a:clrChange>
          </a:blip>
          <a:srcRect l="14999" t="43333" r="14166" b="34444"/>
          <a:stretch>
            <a:fillRect/>
          </a:stretch>
        </p:blipFill>
        <p:spPr bwMode="auto">
          <a:xfrm>
            <a:off x="4267200" y="2686050"/>
            <a:ext cx="5257800" cy="1314450"/>
          </a:xfrm>
          <a:prstGeom prst="rect">
            <a:avLst/>
          </a:prstGeom>
          <a:noFill/>
          <a:ln w="9525">
            <a:noFill/>
            <a:miter lim="800000"/>
            <a:headEnd/>
            <a:tailEnd/>
          </a:ln>
        </p:spPr>
      </p:pic>
      <p:pic>
        <p:nvPicPr>
          <p:cNvPr id="183310" name="Picture 14" descr="9_2xCO2"/>
          <p:cNvPicPr>
            <a:picLocks noChangeAspect="1" noChangeArrowheads="1"/>
          </p:cNvPicPr>
          <p:nvPr/>
        </p:nvPicPr>
        <p:blipFill>
          <a:blip r:embed="rId13" cstate="print">
            <a:clrChange>
              <a:clrFrom>
                <a:srgbClr val="FFFFFF"/>
              </a:clrFrom>
              <a:clrTo>
                <a:srgbClr val="FFFFFF">
                  <a:alpha val="0"/>
                </a:srgbClr>
              </a:clrTo>
            </a:clrChange>
          </a:blip>
          <a:srcRect l="43939" t="62746" r="42424" b="17647"/>
          <a:stretch>
            <a:fillRect/>
          </a:stretch>
        </p:blipFill>
        <p:spPr bwMode="auto">
          <a:xfrm>
            <a:off x="6953250" y="3829050"/>
            <a:ext cx="1028700" cy="1143000"/>
          </a:xfrm>
          <a:prstGeom prst="rect">
            <a:avLst/>
          </a:prstGeom>
          <a:noFill/>
          <a:ln w="9525">
            <a:noFill/>
            <a:miter lim="800000"/>
            <a:headEnd/>
            <a:tailEnd/>
          </a:ln>
        </p:spPr>
      </p:pic>
      <p:sp>
        <p:nvSpPr>
          <p:cNvPr id="16" name="Slide Number Placeholder 15"/>
          <p:cNvSpPr>
            <a:spLocks noGrp="1"/>
          </p:cNvSpPr>
          <p:nvPr>
            <p:ph type="sldNum" sz="quarter" idx="12"/>
          </p:nvPr>
        </p:nvSpPr>
        <p:spPr/>
        <p:txBody>
          <a:bodyPr/>
          <a:lstStyle/>
          <a:p>
            <a:fld id="{B6F15528-21DE-4FAA-801E-634DDDAF4B2B}" type="slidenum">
              <a:rPr lang="en-US" smtClean="0">
                <a:solidFill>
                  <a:prstClr val="black">
                    <a:tint val="75000"/>
                  </a:prstClr>
                </a:solidFill>
              </a:rPr>
              <a:pPr/>
              <a:t>42</a:t>
            </a:fld>
            <a:endParaRPr lang="en-US">
              <a:solidFill>
                <a:prstClr val="black">
                  <a:tint val="75000"/>
                </a:prstClr>
              </a:solidFill>
            </a:endParaRPr>
          </a:p>
        </p:txBody>
      </p:sp>
    </p:spTree>
    <p:extLst>
      <p:ext uri="{BB962C8B-B14F-4D97-AF65-F5344CB8AC3E}">
        <p14:creationId xmlns:p14="http://schemas.microsoft.com/office/powerpoint/2010/main" val="97646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3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3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1603</Words>
  <Application>Microsoft Office PowerPoint</Application>
  <PresentationFormat>Widescreen</PresentationFormat>
  <Paragraphs>180</Paragraphs>
  <Slides>42</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Calibri Light</vt:lpstr>
      <vt:lpstr>Geo</vt:lpstr>
      <vt:lpstr>Noto Sans Symbols</vt:lpstr>
      <vt:lpstr>Times</vt:lpstr>
      <vt:lpstr>Times New Roman</vt:lpstr>
      <vt:lpstr>Office Theme</vt:lpstr>
      <vt:lpstr>Introduction to Climate Change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Climate Change v. Climate Variability</vt:lpstr>
      <vt:lpstr>Factors that influence climate</vt:lpstr>
      <vt:lpstr>PowerPoint Presentation</vt:lpstr>
      <vt:lpstr>Temperature Basics </vt:lpstr>
      <vt:lpstr>Pressure</vt:lpstr>
      <vt:lpstr>What is atmospheric pressure?</vt:lpstr>
      <vt:lpstr>Standard Atmospheric Pressure </vt:lpstr>
      <vt:lpstr>Density &amp; Pressure</vt:lpstr>
      <vt:lpstr>WIND</vt:lpstr>
      <vt:lpstr>PowerPoint Presentation</vt:lpstr>
      <vt:lpstr>Humidity</vt:lpstr>
      <vt:lpstr>PowerPoint Presentation</vt:lpstr>
      <vt:lpstr>PowerPoint Presentation</vt:lpstr>
      <vt:lpstr>What makes up the atmosphere?</vt:lpstr>
      <vt:lpstr>Atmospheric Thickness</vt:lpstr>
      <vt:lpstr>The Layers of the Atmosphere</vt:lpstr>
      <vt:lpstr>PowerPoint Presentation</vt:lpstr>
      <vt:lpstr>PowerPoint Presentation</vt:lpstr>
      <vt:lpstr>Greenhouse gases</vt:lpstr>
      <vt:lpstr>PowerPoint Presentation</vt:lpstr>
      <vt:lpstr>PowerPoint Presentation</vt:lpstr>
      <vt:lpstr>PowerPoint Presentation</vt:lpstr>
      <vt:lpstr>PowerPoint Presentation</vt:lpstr>
      <vt:lpstr>Carbon dioxide increase</vt:lpstr>
      <vt:lpstr>Carbon dioxide increase</vt:lpstr>
      <vt:lpstr>Methane and other greenhouse gases</vt:lpstr>
      <vt:lpstr>Methane</vt:lpstr>
      <vt:lpstr>PowerPoint Presentation</vt:lpstr>
      <vt:lpstr>Nitrous oxide (NO2) “laughing gas”</vt:lpstr>
      <vt:lpstr>Increase of other greenhouse gases</vt:lpstr>
      <vt:lpstr>Increase of other greenhouse gases</vt:lpstr>
      <vt:lpstr>GHE#1 - natural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Climate Change</dc:title>
  <dc:creator>Ujjwal Saha</dc:creator>
  <cp:lastModifiedBy>Ujjwal Saha</cp:lastModifiedBy>
  <cp:revision>20</cp:revision>
  <dcterms:created xsi:type="dcterms:W3CDTF">2022-09-08T13:57:15Z</dcterms:created>
  <dcterms:modified xsi:type="dcterms:W3CDTF">2025-09-08T15:37:09Z</dcterms:modified>
</cp:coreProperties>
</file>